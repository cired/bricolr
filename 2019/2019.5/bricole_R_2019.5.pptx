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9"/>
  </p:notesMasterIdLst>
  <p:handoutMasterIdLst>
    <p:handoutMasterId r:id="rId10"/>
  </p:handoutMasterIdLst>
  <p:sldIdLst>
    <p:sldId id="343" r:id="rId2"/>
    <p:sldId id="344" r:id="rId3"/>
    <p:sldId id="347" r:id="rId4"/>
    <p:sldId id="352" r:id="rId5"/>
    <p:sldId id="353" r:id="rId6"/>
    <p:sldId id="354" r:id="rId7"/>
    <p:sldId id="355" r:id="rId8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A4B"/>
    <a:srgbClr val="0F2847"/>
    <a:srgbClr val="133258"/>
    <a:srgbClr val="183D6A"/>
    <a:srgbClr val="252C4E"/>
    <a:srgbClr val="392C4A"/>
    <a:srgbClr val="322741"/>
    <a:srgbClr val="513F68"/>
    <a:srgbClr val="323B68"/>
    <a:srgbClr val="001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 snapToGrid="0">
      <p:cViewPr varScale="1">
        <p:scale>
          <a:sx n="86" d="100"/>
          <a:sy n="86" d="100"/>
        </p:scale>
        <p:origin x="-88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50579B90-7053-474F-9C72-B32CC7F707E8}" type="datetime1">
              <a:rPr lang="fr-FR"/>
              <a:pPr>
                <a:defRPr/>
              </a:pPr>
              <a:t>21/06/2019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449AC310-9982-E943-83AE-45DAEB307FA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658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fld id="{F404ED14-048A-A94E-B854-BEB18C4213A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2800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5362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fr-FR">
              <a:ea typeface="ヒラギノ角ゴ Pro W3" charset="0"/>
              <a:cs typeface="ヒラギノ角ゴ Pro W3" charset="0"/>
            </a:endParaRPr>
          </a:p>
        </p:txBody>
      </p:sp>
      <p:sp>
        <p:nvSpPr>
          <p:cNvPr id="15363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C7823D7-EC64-9444-B25A-0B72DA5BE37E}" type="slidenum">
              <a:rPr lang="fr-FR" sz="1200"/>
              <a:pPr eaLnBrk="1" hangingPunct="1"/>
              <a:t>1</a:t>
            </a:fld>
            <a:endParaRPr lang="fr-F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091321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182968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031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96536"/>
            <a:ext cx="8229600" cy="442118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cxnSp>
        <p:nvCxnSpPr>
          <p:cNvPr id="6" name="Connecteur droit 5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63832832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5176094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496536"/>
            <a:ext cx="4038600" cy="44211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496536"/>
            <a:ext cx="4038600" cy="44211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cxnSp>
        <p:nvCxnSpPr>
          <p:cNvPr id="10" name="Connecteur droit 9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15102176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42156711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7969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cxnSp>
        <p:nvCxnSpPr>
          <p:cNvPr id="8" name="Connecteur droit 7"/>
          <p:cNvCxnSpPr/>
          <p:nvPr userDrawn="1"/>
        </p:nvCxnSpPr>
        <p:spPr>
          <a:xfrm flipV="1">
            <a:off x="364912" y="1131469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tx1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6108083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5621582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30092346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1319366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5262859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620713"/>
            <a:ext cx="2057400" cy="540067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20713"/>
            <a:ext cx="6019800" cy="540067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5"/>
          <p:cNvSpPr/>
          <p:nvPr userDrawn="1"/>
        </p:nvSpPr>
        <p:spPr>
          <a:xfrm>
            <a:off x="3274758" y="6296025"/>
            <a:ext cx="2614241" cy="3778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r-FR" sz="1100" dirty="0" smtClean="0">
                <a:solidFill>
                  <a:srgbClr val="FFFFFF"/>
                </a:solidFill>
                <a:latin typeface="Optima"/>
                <a:cs typeface="Optima"/>
              </a:rPr>
              <a:t>slide </a:t>
            </a:r>
            <a:r>
              <a:rPr lang="fr-FR" sz="1100" dirty="0">
                <a:solidFill>
                  <a:srgbClr val="FFFFFF"/>
                </a:solidFill>
                <a:latin typeface="Optima"/>
                <a:cs typeface="Optima"/>
              </a:rPr>
              <a:t>#</a:t>
            </a:r>
            <a:fld id="{EA468DC0-D358-BF4D-AD98-71F333219BC0}" type="slidenum">
              <a:rPr lang="fr-FR" sz="1100">
                <a:solidFill>
                  <a:srgbClr val="FFFFFF"/>
                </a:solidFill>
                <a:latin typeface="Optima"/>
                <a:cs typeface="Optima"/>
              </a:rPr>
              <a:pPr algn="ctr">
                <a:defRPr/>
              </a:pPr>
              <a:t>‹N°›</a:t>
            </a:fld>
            <a:endParaRPr lang="fr-FR" sz="1100" dirty="0">
              <a:solidFill>
                <a:srgbClr val="FFFFFF"/>
              </a:solidFill>
              <a:latin typeface="Optima"/>
              <a:cs typeface="Optima"/>
            </a:endParaRPr>
          </a:p>
        </p:txBody>
      </p:sp>
    </p:spTree>
    <p:extLst>
      <p:ext uri="{BB962C8B-B14F-4D97-AF65-F5344CB8AC3E}">
        <p14:creationId xmlns:p14="http://schemas.microsoft.com/office/powerpoint/2010/main" val="26224189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F2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442913"/>
            <a:ext cx="861695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</a:t>
            </a:r>
            <a:r>
              <a:rPr lang="fr-FR" dirty="0" smtClean="0"/>
              <a:t>modifier </a:t>
            </a:r>
            <a:r>
              <a:rPr lang="fr-FR" dirty="0"/>
              <a:t>le style du titre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2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6" name="Connecteur droit 5"/>
          <p:cNvCxnSpPr/>
          <p:nvPr userDrawn="1"/>
        </p:nvCxnSpPr>
        <p:spPr>
          <a:xfrm flipV="1">
            <a:off x="364912" y="6197318"/>
            <a:ext cx="8460000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0F2A4B"/>
                </a:gs>
                <a:gs pos="100000">
                  <a:srgbClr val="0F2A4B"/>
                </a:gs>
                <a:gs pos="5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</p:sldLayoutIdLst>
  <p:transition spd="slow"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cap="small">
          <a:solidFill>
            <a:schemeClr val="tx1"/>
          </a:solidFill>
          <a:latin typeface="Optima"/>
          <a:ea typeface="ヒラギノ角ゴ Pro W3" charset="-128"/>
          <a:cs typeface="Optima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charset="0"/>
          <a:ea typeface="ヒラギノ角ゴ Pro W3" charset="-128"/>
          <a:cs typeface="ヒラギノ角ゴ Pro W3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Optima"/>
          <a:ea typeface="ヒラギノ角ゴ Pro W3" charset="-128"/>
          <a:cs typeface="Optima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▪"/>
        <a:defRPr sz="2000">
          <a:solidFill>
            <a:schemeClr val="tx1"/>
          </a:solidFill>
          <a:latin typeface="Optima"/>
          <a:ea typeface="ヒラギノ角ゴ Pro W3" charset="-128"/>
          <a:cs typeface="Optim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Optima"/>
          <a:ea typeface="ヒラギノ角ゴ Pro W3" charset="-128"/>
          <a:cs typeface="Optim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Optima"/>
          <a:ea typeface="ヒラギノ角ゴ Pro W3" charset="-128"/>
          <a:cs typeface="Optim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Optima"/>
          <a:ea typeface="ヒラギノ角ゴ Pro W3" charset="-128"/>
          <a:cs typeface="Optim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ヒラギノ角ゴ Pro W3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ran.rstudio.com/web/packages/jtools/vignettes/summ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documentation.org/packages/car/versions/0.8-1/topics/leverage.plots" TargetMode="External"/><Relationship Id="rId3" Type="http://schemas.openxmlformats.org/officeDocument/2006/relationships/hyperlink" Target="http://faculty.cas.usf.edu/mbrannick/regression/Partial.html" TargetMode="External"/><Relationship Id="rId7" Type="http://schemas.openxmlformats.org/officeDocument/2006/relationships/hyperlink" Target="https://www.r-bloggers.com/leverage-and-influence-in-a-nutshell/" TargetMode="External"/><Relationship Id="rId2" Type="http://schemas.openxmlformats.org/officeDocument/2006/relationships/hyperlink" Target="https://www.listendata.com/2017/03/partial-correlatio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tatmethods.net/stats/rdiagnostics.html" TargetMode="External"/><Relationship Id="rId5" Type="http://schemas.openxmlformats.org/officeDocument/2006/relationships/hyperlink" Target="https://www.youtube.com/watch?v=xc_X9GFVuVU" TargetMode="External"/><Relationship Id="rId10" Type="http://schemas.openxmlformats.org/officeDocument/2006/relationships/hyperlink" Target="http://www.sthda.com/english/wiki/be-awesome-in-ggplot2-a-practical-guide-to-be-highly-effective-r-software-and-data-visualization" TargetMode="External"/><Relationship Id="rId4" Type="http://schemas.openxmlformats.org/officeDocument/2006/relationships/hyperlink" Target="https://newonlinecourses.science.psu.edu/stat501/print/book/export/html/337/" TargetMode="External"/><Relationship Id="rId9" Type="http://schemas.openxmlformats.org/officeDocument/2006/relationships/hyperlink" Target="https://cran.r-project.org/web/packages/olsrr/vignettes/influence_measur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Logo_CIR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5297" y="541503"/>
            <a:ext cx="885547" cy="94561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9219" y="525938"/>
            <a:ext cx="987733" cy="98773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83894" y="1637124"/>
            <a:ext cx="790695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latin typeface="Optima"/>
                <a:ea typeface="ヒラギノ角ゴ Pro W3" charset="0"/>
                <a:cs typeface="Optima"/>
              </a:rPr>
              <a:t>Econometric practice with </a:t>
            </a:r>
            <a:r>
              <a:rPr lang="en-US" sz="3600" dirty="0" err="1" smtClean="0">
                <a:latin typeface="Optima"/>
                <a:ea typeface="ヒラギノ角ゴ Pro W3" charset="0"/>
                <a:cs typeface="Optima"/>
              </a:rPr>
              <a:t>Rstudio</a:t>
            </a:r>
            <a:endParaRPr lang="en-US" sz="3600" dirty="0" smtClean="0">
              <a:latin typeface="Optima"/>
              <a:ea typeface="ヒラギノ角ゴ Pro W3" charset="0"/>
              <a:cs typeface="Optima"/>
            </a:endParaRPr>
          </a:p>
          <a:p>
            <a:pPr algn="ctr"/>
            <a:endParaRPr lang="en-US" sz="3600" dirty="0" smtClean="0">
              <a:latin typeface="Optima"/>
              <a:ea typeface="ヒラギノ角ゴ Pro W3" charset="0"/>
              <a:cs typeface="Optima"/>
            </a:endParaRPr>
          </a:p>
          <a:p>
            <a:pPr algn="ctr"/>
            <a:r>
              <a:rPr lang="en-US" sz="3600" dirty="0" smtClean="0">
                <a:latin typeface="Optima"/>
                <a:ea typeface="ヒラギノ角ゴ Pro W3" charset="0"/>
                <a:cs typeface="Optima"/>
              </a:rPr>
              <a:t>Part 3: </a:t>
            </a:r>
            <a:br>
              <a:rPr lang="en-US" sz="3600" dirty="0" smtClean="0">
                <a:latin typeface="Optima"/>
                <a:ea typeface="ヒラギノ角ゴ Pro W3" charset="0"/>
                <a:cs typeface="Optima"/>
              </a:rPr>
            </a:br>
            <a:endParaRPr lang="en-US" sz="3600" dirty="0" smtClean="0">
              <a:latin typeface="Optima"/>
              <a:ea typeface="ヒラギノ角ゴ Pro W3" charset="0"/>
              <a:cs typeface="Optima"/>
            </a:endParaRPr>
          </a:p>
          <a:p>
            <a:pPr algn="ctr"/>
            <a:r>
              <a:rPr lang="en-US" sz="3600" dirty="0" smtClean="0">
                <a:latin typeface="Optima"/>
                <a:ea typeface="ヒラギノ角ゴ Pro W3" charset="0"/>
                <a:cs typeface="Optima"/>
              </a:rPr>
              <a:t>regression analysis</a:t>
            </a:r>
          </a:p>
          <a:p>
            <a:pPr algn="ctr"/>
            <a:r>
              <a:rPr lang="en-US" sz="3600" dirty="0" smtClean="0">
                <a:latin typeface="Optima"/>
                <a:ea typeface="ヒラギノ角ゴ Pro W3" charset="0"/>
                <a:cs typeface="Optima"/>
              </a:rPr>
              <a:t>with AER and </a:t>
            </a:r>
            <a:r>
              <a:rPr lang="en-US" sz="3600" dirty="0" err="1" smtClean="0">
                <a:latin typeface="Optima"/>
                <a:ea typeface="ヒラギノ角ゴ Pro W3" charset="0"/>
                <a:cs typeface="Optima"/>
              </a:rPr>
              <a:t>olsrr</a:t>
            </a:r>
            <a:endParaRPr lang="en-US" sz="3600" dirty="0" smtClean="0">
              <a:latin typeface="Optima"/>
              <a:ea typeface="ヒラギノ角ゴ Pro W3" charset="0"/>
              <a:cs typeface="Optima"/>
            </a:endParaRPr>
          </a:p>
          <a:p>
            <a:pPr algn="ctr"/>
            <a:endParaRPr lang="en-US" sz="3600" dirty="0">
              <a:latin typeface="Optima"/>
              <a:ea typeface="ヒラギノ角ゴ Pro W3" charset="0"/>
              <a:cs typeface="Optima"/>
            </a:endParaRPr>
          </a:p>
          <a:p>
            <a:pPr algn="ctr"/>
            <a:r>
              <a:rPr lang="en-US" sz="1900" dirty="0" err="1" smtClean="0">
                <a:latin typeface="Optima"/>
                <a:ea typeface="ヒラギノ角ゴ Pro W3" charset="0"/>
                <a:cs typeface="Optima"/>
              </a:rPr>
              <a:t>Bricol’R</a:t>
            </a:r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 seminar, session 2019.5 – </a:t>
            </a:r>
            <a:r>
              <a:rPr lang="en-US" sz="1900" dirty="0" err="1" smtClean="0">
                <a:latin typeface="Optima"/>
                <a:ea typeface="ヒラギノ角ゴ Pro W3" charset="0"/>
                <a:cs typeface="Optima"/>
              </a:rPr>
              <a:t>june</a:t>
            </a:r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 19, 2019</a:t>
            </a:r>
          </a:p>
          <a:p>
            <a:pPr>
              <a:lnSpc>
                <a:spcPct val="50000"/>
              </a:lnSpc>
            </a:pPr>
            <a:endParaRPr lang="en-US" sz="1800" dirty="0" smtClean="0">
              <a:latin typeface="Optima"/>
              <a:ea typeface="ヒラギノ角ゴ Pro W3" charset="0"/>
              <a:cs typeface="Optima"/>
            </a:endParaRPr>
          </a:p>
          <a:p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Franck </a:t>
            </a:r>
            <a:r>
              <a:rPr lang="en-US" sz="1900" cap="small" dirty="0" smtClean="0">
                <a:latin typeface="Optima"/>
                <a:ea typeface="ヒラギノ角ゴ Pro W3" charset="0"/>
                <a:cs typeface="Optima"/>
              </a:rPr>
              <a:t>Nadaud</a:t>
            </a:r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 | CNRS-CIRED UMR 8568 </a:t>
            </a:r>
            <a:r>
              <a:rPr lang="en-US" sz="1900" dirty="0" err="1" smtClean="0">
                <a:latin typeface="Optima"/>
                <a:ea typeface="ヒラギノ角ゴ Pro W3" charset="0"/>
                <a:cs typeface="Optima"/>
              </a:rPr>
              <a:t>Nogent</a:t>
            </a:r>
            <a:r>
              <a:rPr lang="en-US" sz="1900" dirty="0" smtClean="0">
                <a:latin typeface="Optima"/>
                <a:ea typeface="ヒラギノ角ゴ Pro W3" charset="0"/>
                <a:cs typeface="Optima"/>
              </a:rPr>
              <a:t>-sur-Marne</a:t>
            </a:r>
          </a:p>
        </p:txBody>
      </p:sp>
    </p:spTree>
    <p:extLst>
      <p:ext uri="{BB962C8B-B14F-4D97-AF65-F5344CB8AC3E}">
        <p14:creationId xmlns:p14="http://schemas.microsoft.com/office/powerpoint/2010/main" val="239336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smtClean="0"/>
              <a:t>French </a:t>
            </a:r>
            <a:r>
              <a:rPr lang="fr-FR" sz="2800" dirty="0" err="1" smtClean="0"/>
              <a:t>households</a:t>
            </a:r>
            <a:r>
              <a:rPr lang="fr-FR" sz="2800" dirty="0" smtClean="0"/>
              <a:t> </a:t>
            </a:r>
            <a:r>
              <a:rPr lang="fr-FR" sz="2800" dirty="0" err="1" smtClean="0"/>
              <a:t>constrained</a:t>
            </a:r>
            <a:r>
              <a:rPr lang="fr-FR" sz="2800" dirty="0" smtClean="0"/>
              <a:t> </a:t>
            </a:r>
            <a:r>
              <a:rPr lang="fr-FR" sz="2800" dirty="0" err="1" smtClean="0"/>
              <a:t>expenditures</a:t>
            </a:r>
            <a:r>
              <a:rPr lang="fr-FR" sz="2800" dirty="0" smtClean="0"/>
              <a:t> in the long </a:t>
            </a:r>
            <a:r>
              <a:rPr lang="fr-FR" sz="2800" dirty="0" err="1" smtClean="0"/>
              <a:t>run</a:t>
            </a:r>
            <a:r>
              <a:rPr lang="fr-FR" sz="2800" dirty="0" smtClean="0"/>
              <a:t> 1959 - 2016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FR" dirty="0" err="1" smtClean="0"/>
              <a:t>Definition</a:t>
            </a:r>
            <a:r>
              <a:rPr lang="fr-FR" dirty="0" smtClean="0"/>
              <a:t> of </a:t>
            </a:r>
            <a:r>
              <a:rPr lang="fr-FR" dirty="0" err="1" smtClean="0"/>
              <a:t>constrained</a:t>
            </a:r>
            <a:r>
              <a:rPr lang="fr-FR" dirty="0" smtClean="0"/>
              <a:t> </a:t>
            </a:r>
            <a:r>
              <a:rPr lang="fr-FR" dirty="0" err="1" smtClean="0"/>
              <a:t>expenditures</a:t>
            </a:r>
            <a:r>
              <a:rPr lang="fr-FR" dirty="0" smtClean="0"/>
              <a:t>, AKA, « dépenses pré-engagées » == « </a:t>
            </a:r>
            <a:r>
              <a:rPr lang="fr-FR" dirty="0" err="1" smtClean="0"/>
              <a:t>pre-engaged</a:t>
            </a:r>
            <a:r>
              <a:rPr lang="fr-FR" dirty="0" smtClean="0"/>
              <a:t> </a:t>
            </a:r>
            <a:r>
              <a:rPr lang="fr-FR" dirty="0" err="1" smtClean="0"/>
              <a:t>expenditures</a:t>
            </a:r>
            <a:r>
              <a:rPr lang="fr-FR" dirty="0" smtClean="0"/>
              <a:t> »:</a:t>
            </a:r>
          </a:p>
          <a:p>
            <a:pPr marL="1257300" lvl="2" indent="-457200"/>
            <a:r>
              <a:rPr lang="fr-FR" dirty="0" smtClean="0"/>
              <a:t>All </a:t>
            </a:r>
            <a:r>
              <a:rPr lang="fr-FR" dirty="0" err="1" smtClean="0"/>
              <a:t>expenditures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are </a:t>
            </a:r>
            <a:r>
              <a:rPr lang="fr-FR" dirty="0" err="1" smtClean="0"/>
              <a:t>mandatory</a:t>
            </a:r>
            <a:r>
              <a:rPr lang="fr-FR" dirty="0" smtClean="0"/>
              <a:t> </a:t>
            </a:r>
            <a:r>
              <a:rPr lang="fr-FR" dirty="0" err="1" smtClean="0"/>
              <a:t>because</a:t>
            </a:r>
            <a:r>
              <a:rPr lang="fr-FR" dirty="0" smtClean="0"/>
              <a:t> of an </a:t>
            </a:r>
            <a:r>
              <a:rPr lang="fr-FR" dirty="0" err="1" smtClean="0"/>
              <a:t>existing</a:t>
            </a:r>
            <a:r>
              <a:rPr lang="fr-FR" dirty="0" smtClean="0"/>
              <a:t> </a:t>
            </a:r>
            <a:r>
              <a:rPr lang="fr-FR" dirty="0" err="1" smtClean="0"/>
              <a:t>contract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 </a:t>
            </a:r>
            <a:r>
              <a:rPr lang="fr-FR" dirty="0" err="1" smtClean="0"/>
              <a:t>third</a:t>
            </a:r>
            <a:r>
              <a:rPr lang="fr-FR" dirty="0" smtClean="0"/>
              <a:t> party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 smtClean="0"/>
              <a:t>List of </a:t>
            </a:r>
            <a:r>
              <a:rPr lang="fr-FR" dirty="0" err="1" smtClean="0"/>
              <a:t>constrained</a:t>
            </a:r>
            <a:r>
              <a:rPr lang="fr-FR" dirty="0" smtClean="0"/>
              <a:t> </a:t>
            </a:r>
            <a:r>
              <a:rPr lang="fr-FR" dirty="0" err="1" smtClean="0"/>
              <a:t>expenditures</a:t>
            </a:r>
            <a:r>
              <a:rPr lang="fr-FR" dirty="0" smtClean="0"/>
              <a:t>:</a:t>
            </a:r>
          </a:p>
          <a:p>
            <a:pPr marL="400050" lvl="1" indent="0">
              <a:buNone/>
            </a:pPr>
            <a:r>
              <a:rPr lang="fr-FR" dirty="0" err="1" smtClean="0"/>
              <a:t>Rents</a:t>
            </a:r>
            <a:r>
              <a:rPr lang="fr-FR" dirty="0" smtClean="0"/>
              <a:t>, </a:t>
            </a:r>
            <a:r>
              <a:rPr lang="fr-FR" dirty="0" err="1" smtClean="0"/>
              <a:t>housing</a:t>
            </a:r>
            <a:r>
              <a:rPr lang="fr-FR" dirty="0" smtClean="0"/>
              <a:t> maintenance &amp; </a:t>
            </a:r>
            <a:r>
              <a:rPr lang="fr-FR" dirty="0" err="1" smtClean="0"/>
              <a:t>repair</a:t>
            </a:r>
            <a:r>
              <a:rPr lang="fr-FR" dirty="0" smtClean="0"/>
              <a:t>, </a:t>
            </a:r>
            <a:r>
              <a:rPr lang="fr-FR" dirty="0" err="1" smtClean="0"/>
              <a:t>housing</a:t>
            </a:r>
            <a:r>
              <a:rPr lang="fr-FR" dirty="0" smtClean="0"/>
              <a:t> services, home </a:t>
            </a:r>
            <a:r>
              <a:rPr lang="fr-FR" dirty="0" err="1" smtClean="0"/>
              <a:t>energy</a:t>
            </a:r>
            <a:r>
              <a:rPr lang="fr-FR" dirty="0" smtClean="0"/>
              <a:t>, communication services, </a:t>
            </a:r>
            <a:r>
              <a:rPr lang="fr-FR" dirty="0" err="1" smtClean="0"/>
              <a:t>television</a:t>
            </a:r>
            <a:r>
              <a:rPr lang="fr-FR" dirty="0" smtClean="0"/>
              <a:t> services, </a:t>
            </a:r>
            <a:r>
              <a:rPr lang="fr-FR" dirty="0" err="1" smtClean="0"/>
              <a:t>insurances</a:t>
            </a:r>
            <a:r>
              <a:rPr lang="fr-FR" dirty="0" smtClean="0"/>
              <a:t> (</a:t>
            </a:r>
            <a:r>
              <a:rPr lang="fr-FR" dirty="0" err="1" smtClean="0"/>
              <a:t>except</a:t>
            </a:r>
            <a:r>
              <a:rPr lang="fr-FR" dirty="0" smtClean="0"/>
              <a:t> life), cafeteria, finance services.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 smtClean="0"/>
              <a:t>Total </a:t>
            </a:r>
            <a:r>
              <a:rPr lang="fr-FR" dirty="0" err="1" smtClean="0"/>
              <a:t>consumption</a:t>
            </a:r>
            <a:r>
              <a:rPr lang="fr-FR" dirty="0" smtClean="0"/>
              <a:t> </a:t>
            </a:r>
            <a:r>
              <a:rPr lang="fr-FR" dirty="0" err="1" smtClean="0"/>
              <a:t>expenditures</a:t>
            </a:r>
            <a:r>
              <a:rPr lang="fr-FR" dirty="0" smtClean="0"/>
              <a:t> are </a:t>
            </a:r>
            <a:r>
              <a:rPr lang="fr-FR" dirty="0" err="1" smtClean="0"/>
              <a:t>thus</a:t>
            </a:r>
            <a:r>
              <a:rPr lang="fr-FR" dirty="0" smtClean="0"/>
              <a:t> split </a:t>
            </a:r>
            <a:r>
              <a:rPr lang="fr-FR" dirty="0" err="1" smtClean="0"/>
              <a:t>between</a:t>
            </a:r>
            <a:r>
              <a:rPr lang="fr-FR" dirty="0" smtClean="0"/>
              <a:t> </a:t>
            </a:r>
            <a:r>
              <a:rPr lang="fr-FR" dirty="0" err="1" smtClean="0"/>
              <a:t>pre-engaged</a:t>
            </a:r>
            <a:r>
              <a:rPr lang="fr-FR" dirty="0" smtClean="0"/>
              <a:t> and arbitrable </a:t>
            </a:r>
            <a:r>
              <a:rPr lang="fr-FR" dirty="0" err="1" smtClean="0"/>
              <a:t>expenditures</a:t>
            </a:r>
            <a:endParaRPr lang="fr-FR" dirty="0" smtClean="0"/>
          </a:p>
          <a:p>
            <a:pPr marL="457200" indent="-457200">
              <a:buFont typeface="+mj-lt"/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665788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 err="1" smtClean="0"/>
              <a:t>We</a:t>
            </a:r>
            <a:r>
              <a:rPr lang="fr-FR" sz="2800" dirty="0" smtClean="0"/>
              <a:t> </a:t>
            </a:r>
            <a:r>
              <a:rPr lang="fr-FR" sz="2800" dirty="0" err="1" smtClean="0"/>
              <a:t>study</a:t>
            </a:r>
            <a:r>
              <a:rPr lang="fr-FR" sz="2800" dirty="0" smtClean="0"/>
              <a:t> </a:t>
            </a:r>
            <a:r>
              <a:rPr lang="fr-FR" sz="2800" dirty="0" err="1" smtClean="0"/>
              <a:t>here</a:t>
            </a:r>
            <a:r>
              <a:rPr lang="fr-FR" sz="2800" dirty="0" smtClean="0"/>
              <a:t> the interaction </a:t>
            </a:r>
            <a:r>
              <a:rPr lang="fr-FR" sz="2800" dirty="0" err="1" smtClean="0"/>
              <a:t>between</a:t>
            </a:r>
            <a:r>
              <a:rPr lang="fr-FR" sz="2800" dirty="0" smtClean="0"/>
              <a:t> </a:t>
            </a:r>
            <a:r>
              <a:rPr lang="fr-FR" sz="2800" dirty="0" err="1" smtClean="0"/>
              <a:t>these</a:t>
            </a:r>
            <a:r>
              <a:rPr lang="fr-FR" sz="2800" dirty="0" smtClean="0"/>
              <a:t> </a:t>
            </a:r>
            <a:r>
              <a:rPr lang="fr-FR" sz="2800" dirty="0" err="1" smtClean="0"/>
              <a:t>categories</a:t>
            </a:r>
            <a:r>
              <a:rPr lang="fr-FR" sz="2800" dirty="0" smtClean="0"/>
              <a:t> of </a:t>
            </a:r>
            <a:r>
              <a:rPr lang="fr-FR" sz="2800" dirty="0" err="1" smtClean="0"/>
              <a:t>expenditures</a:t>
            </a:r>
            <a:r>
              <a:rPr lang="fr-FR" sz="2800" dirty="0" smtClean="0"/>
              <a:t> 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6939"/>
            <a:ext cx="8229600" cy="4836405"/>
          </a:xfrm>
        </p:spPr>
        <p:txBody>
          <a:bodyPr/>
          <a:lstStyle/>
          <a:p>
            <a:pPr marL="457200" indent="-457200" algn="just">
              <a:buFontTx/>
              <a:buAutoNum type="arabicPeriod"/>
            </a:pPr>
            <a:r>
              <a:rPr lang="fr-FR" dirty="0" err="1" smtClean="0"/>
              <a:t>We</a:t>
            </a:r>
            <a:r>
              <a:rPr lang="fr-FR" dirty="0" smtClean="0"/>
              <a:t> use </a:t>
            </a:r>
            <a:r>
              <a:rPr lang="fr-FR" dirty="0"/>
              <a:t>AER and </a:t>
            </a:r>
            <a:r>
              <a:rPr lang="fr-FR" dirty="0" err="1" smtClean="0"/>
              <a:t>olsrr</a:t>
            </a:r>
            <a:r>
              <a:rPr lang="fr-FR" dirty="0" smtClean="0"/>
              <a:t> packages </a:t>
            </a:r>
          </a:p>
          <a:p>
            <a:pPr marL="457200" indent="-457200" algn="just">
              <a:buFontTx/>
              <a:buAutoNum type="arabicPeriod"/>
            </a:pPr>
            <a:r>
              <a:rPr lang="fr-FR" dirty="0" err="1" smtClean="0"/>
              <a:t>We</a:t>
            </a:r>
            <a:r>
              <a:rPr lang="fr-FR" dirty="0" smtClean="0"/>
              <a:t> propose to </a:t>
            </a:r>
            <a:r>
              <a:rPr lang="fr-FR" dirty="0" err="1" smtClean="0"/>
              <a:t>neglect</a:t>
            </a:r>
            <a:r>
              <a:rPr lang="fr-FR" dirty="0" smtClean="0"/>
              <a:t> non </a:t>
            </a:r>
            <a:r>
              <a:rPr lang="fr-FR" dirty="0" err="1" smtClean="0"/>
              <a:t>stationarity</a:t>
            </a:r>
            <a:r>
              <a:rPr lang="fr-FR" dirty="0" smtClean="0"/>
              <a:t> </a:t>
            </a:r>
            <a:r>
              <a:rPr lang="fr-FR" dirty="0" err="1" smtClean="0"/>
              <a:t>effects</a:t>
            </a:r>
            <a:r>
              <a:rPr lang="fr-FR" dirty="0" smtClean="0"/>
              <a:t> in time-</a:t>
            </a:r>
            <a:r>
              <a:rPr lang="fr-FR" dirty="0" err="1" smtClean="0"/>
              <a:t>series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require</a:t>
            </a:r>
            <a:r>
              <a:rPr lang="fr-FR" dirty="0" smtClean="0"/>
              <a:t> </a:t>
            </a:r>
            <a:r>
              <a:rPr lang="fr-FR" dirty="0" err="1" smtClean="0"/>
              <a:t>cointegration</a:t>
            </a:r>
            <a:r>
              <a:rPr lang="fr-FR" dirty="0" smtClean="0"/>
              <a:t> </a:t>
            </a:r>
            <a:r>
              <a:rPr lang="fr-FR" dirty="0" err="1" smtClean="0"/>
              <a:t>technics</a:t>
            </a:r>
            <a:r>
              <a:rPr lang="fr-FR" dirty="0"/>
              <a:t>;</a:t>
            </a:r>
          </a:p>
          <a:p>
            <a:pPr marL="457200" indent="-457200" algn="just">
              <a:buAutoNum type="arabicPeriod"/>
            </a:pPr>
            <a:r>
              <a:rPr lang="fr-FR" dirty="0" err="1" smtClean="0"/>
              <a:t>We</a:t>
            </a:r>
            <a:r>
              <a:rPr lang="fr-FR" dirty="0" smtClean="0"/>
              <a:t> propose to </a:t>
            </a:r>
            <a:r>
              <a:rPr lang="fr-FR" dirty="0" err="1" smtClean="0"/>
              <a:t>estimate</a:t>
            </a:r>
            <a:r>
              <a:rPr lang="fr-FR" dirty="0" smtClean="0"/>
              <a:t> a simple </a:t>
            </a:r>
            <a:r>
              <a:rPr lang="fr-FR" dirty="0" err="1" smtClean="0"/>
              <a:t>shares</a:t>
            </a:r>
            <a:r>
              <a:rPr lang="fr-FR" dirty="0" smtClean="0"/>
              <a:t> </a:t>
            </a:r>
            <a:r>
              <a:rPr lang="fr-FR" dirty="0" err="1" smtClean="0"/>
              <a:t>equation</a:t>
            </a:r>
            <a:endParaRPr lang="fr-FR" dirty="0" smtClean="0"/>
          </a:p>
          <a:p>
            <a:pPr marL="400050" lvl="1" indent="0" algn="ctr">
              <a:buNone/>
            </a:pPr>
            <a:endParaRPr lang="fr-FR" dirty="0" smtClean="0"/>
          </a:p>
          <a:p>
            <a:pPr marL="400050" lvl="1" indent="0" algn="ctr">
              <a:buNone/>
            </a:pPr>
            <a:r>
              <a:rPr lang="fr-FR" dirty="0" err="1" smtClean="0"/>
              <a:t>w</a:t>
            </a:r>
            <a:r>
              <a:rPr lang="fr-FR" baseline="-25000" dirty="0" err="1" smtClean="0"/>
              <a:t>t</a:t>
            </a:r>
            <a:r>
              <a:rPr lang="fr-FR" dirty="0" smtClean="0"/>
              <a:t> = a</a:t>
            </a:r>
            <a:r>
              <a:rPr lang="fr-FR" baseline="-25000" dirty="0" smtClean="0"/>
              <a:t>0</a:t>
            </a:r>
            <a:r>
              <a:rPr lang="fr-FR" dirty="0" smtClean="0"/>
              <a:t> + a</a:t>
            </a:r>
            <a:r>
              <a:rPr lang="fr-FR" baseline="-25000" dirty="0" smtClean="0"/>
              <a:t>1</a:t>
            </a:r>
            <a:r>
              <a:rPr lang="fr-FR" dirty="0" smtClean="0"/>
              <a:t>.t  + </a:t>
            </a:r>
            <a:r>
              <a:rPr lang="fr-FR" dirty="0" err="1" smtClean="0"/>
              <a:t>b.ln</a:t>
            </a:r>
            <a:r>
              <a:rPr lang="fr-FR" dirty="0" smtClean="0"/>
              <a:t> (</a:t>
            </a:r>
            <a:r>
              <a:rPr lang="fr-FR" dirty="0" err="1" smtClean="0"/>
              <a:t>Y</a:t>
            </a:r>
            <a:r>
              <a:rPr lang="fr-FR" baseline="-25000" dirty="0" err="1" smtClean="0"/>
              <a:t>t</a:t>
            </a:r>
            <a:r>
              <a:rPr lang="fr-FR" dirty="0" smtClean="0"/>
              <a:t>/P) + </a:t>
            </a:r>
            <a:r>
              <a:rPr lang="fr-FR" dirty="0" err="1" smtClean="0"/>
              <a:t>c.lnP</a:t>
            </a:r>
            <a:r>
              <a:rPr lang="fr-FR" baseline="-25000" dirty="0" err="1" smtClean="0"/>
              <a:t>t</a:t>
            </a:r>
            <a:r>
              <a:rPr lang="fr-FR" dirty="0" smtClean="0"/>
              <a:t> + e</a:t>
            </a:r>
            <a:r>
              <a:rPr lang="fr-FR" baseline="-25000" dirty="0" smtClean="0"/>
              <a:t>t 	</a:t>
            </a:r>
            <a:r>
              <a:rPr lang="fr-FR" dirty="0" smtClean="0"/>
              <a:t>(1)</a:t>
            </a:r>
          </a:p>
          <a:p>
            <a:pPr marL="400050" lvl="1" indent="0" algn="ctr">
              <a:buNone/>
            </a:pPr>
            <a:r>
              <a:rPr lang="fr-FR" sz="2800" baseline="-25000" dirty="0" err="1" smtClean="0"/>
              <a:t>Where</a:t>
            </a:r>
            <a:r>
              <a:rPr lang="fr-FR" sz="2800" baseline="-25000" dirty="0" smtClean="0"/>
              <a:t>:</a:t>
            </a:r>
          </a:p>
          <a:p>
            <a:pPr marL="400050" lvl="1" indent="0" algn="just">
              <a:buNone/>
            </a:pPr>
            <a:r>
              <a:rPr lang="fr-FR" dirty="0" smtClean="0"/>
              <a:t>W = </a:t>
            </a:r>
            <a:r>
              <a:rPr lang="fr-FR" dirty="0" err="1" smtClean="0"/>
              <a:t>share</a:t>
            </a:r>
            <a:r>
              <a:rPr lang="fr-FR" dirty="0" smtClean="0"/>
              <a:t> of </a:t>
            </a:r>
            <a:r>
              <a:rPr lang="fr-FR" dirty="0" err="1" smtClean="0"/>
              <a:t>expenditures</a:t>
            </a:r>
            <a:r>
              <a:rPr lang="fr-FR" dirty="0" smtClean="0"/>
              <a:t>, t = trend, Y = </a:t>
            </a:r>
            <a:r>
              <a:rPr lang="fr-FR" dirty="0" err="1" smtClean="0"/>
              <a:t>income</a:t>
            </a:r>
            <a:r>
              <a:rPr lang="fr-FR" dirty="0" smtClean="0"/>
              <a:t>, P = </a:t>
            </a:r>
            <a:r>
              <a:rPr lang="fr-FR" dirty="0" err="1" smtClean="0"/>
              <a:t>deflator</a:t>
            </a:r>
            <a:r>
              <a:rPr lang="fr-FR" dirty="0" smtClean="0"/>
              <a:t> (Stone or </a:t>
            </a:r>
            <a:r>
              <a:rPr lang="fr-FR" dirty="0" err="1" smtClean="0"/>
              <a:t>other</a:t>
            </a:r>
            <a:r>
              <a:rPr lang="fr-FR" dirty="0" smtClean="0"/>
              <a:t>), P = a </a:t>
            </a:r>
            <a:r>
              <a:rPr lang="fr-FR" dirty="0" err="1" smtClean="0"/>
              <a:t>price</a:t>
            </a:r>
            <a:r>
              <a:rPr lang="fr-FR" dirty="0" smtClean="0"/>
              <a:t> index of the item, e = </a:t>
            </a:r>
            <a:r>
              <a:rPr lang="fr-FR" dirty="0" err="1" smtClean="0"/>
              <a:t>residual</a:t>
            </a:r>
            <a:endParaRPr lang="fr-FR" dirty="0" smtClean="0"/>
          </a:p>
          <a:p>
            <a:pPr marL="400050" lvl="1" indent="0" algn="just">
              <a:buNone/>
            </a:pPr>
            <a:endParaRPr lang="fr-FR" dirty="0" smtClean="0"/>
          </a:p>
          <a:p>
            <a:pPr marL="457200" indent="-457200" algn="just">
              <a:buFont typeface="+mj-lt"/>
              <a:buAutoNum type="arabicPeriod"/>
            </a:pPr>
            <a:r>
              <a:rPr lang="fr-FR" dirty="0" err="1" smtClean="0"/>
              <a:t>Working</a:t>
            </a:r>
            <a:r>
              <a:rPr lang="fr-FR" dirty="0" smtClean="0"/>
              <a:t> on </a:t>
            </a:r>
            <a:r>
              <a:rPr lang="fr-FR" dirty="0" err="1" smtClean="0"/>
              <a:t>equation</a:t>
            </a:r>
            <a:r>
              <a:rPr lang="fr-FR" dirty="0" smtClean="0"/>
              <a:t> (1) </a:t>
            </a:r>
            <a:r>
              <a:rPr lang="fr-FR" dirty="0" err="1" smtClean="0"/>
              <a:t>allow</a:t>
            </a:r>
            <a:r>
              <a:rPr lang="fr-FR" dirty="0" smtClean="0"/>
              <a:t> to use R packages for </a:t>
            </a:r>
            <a:r>
              <a:rPr lang="fr-FR" dirty="0" err="1" smtClean="0"/>
              <a:t>econometrics</a:t>
            </a:r>
            <a:endParaRPr lang="fr-FR" dirty="0"/>
          </a:p>
          <a:p>
            <a:pPr marL="400050" lvl="1" indent="0" algn="just">
              <a:buNone/>
            </a:pPr>
            <a:endParaRPr lang="fr-FR" baseline="-25000" dirty="0"/>
          </a:p>
        </p:txBody>
      </p:sp>
    </p:spTree>
    <p:extLst>
      <p:ext uri="{BB962C8B-B14F-4D97-AF65-F5344CB8AC3E}">
        <p14:creationId xmlns:p14="http://schemas.microsoft.com/office/powerpoint/2010/main" val="949486783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2877" y="286785"/>
            <a:ext cx="8616612" cy="506429"/>
          </a:xfrm>
        </p:spPr>
        <p:txBody>
          <a:bodyPr/>
          <a:lstStyle/>
          <a:p>
            <a:r>
              <a:rPr lang="fr-FR" dirty="0" err="1" smtClean="0"/>
              <a:t>correlations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69065" y="1266939"/>
            <a:ext cx="8229600" cy="5089792"/>
          </a:xfrm>
        </p:spPr>
        <p:txBody>
          <a:bodyPr/>
          <a:lstStyle/>
          <a:p>
            <a:pPr marL="0" indent="0">
              <a:buNone/>
            </a:pPr>
            <a:r>
              <a:rPr lang="fr-FR" sz="1400" dirty="0" smtClean="0"/>
              <a:t>In the model </a:t>
            </a:r>
            <a:r>
              <a:rPr lang="fr-FR" sz="1400" dirty="0" err="1" smtClean="0"/>
              <a:t>results</a:t>
            </a:r>
            <a:r>
              <a:rPr lang="fr-FR" sz="1400" dirty="0" smtClean="0"/>
              <a:t> </a:t>
            </a:r>
            <a:r>
              <a:rPr lang="fr-FR" sz="1400" dirty="0" err="1" smtClean="0"/>
              <a:t>displayed</a:t>
            </a:r>
            <a:r>
              <a:rPr lang="fr-FR" sz="1400" dirty="0" smtClean="0"/>
              <a:t> by </a:t>
            </a:r>
            <a:r>
              <a:rPr lang="fr-FR" sz="1400" dirty="0" err="1" smtClean="0"/>
              <a:t>jtools</a:t>
            </a:r>
            <a:r>
              <a:rPr lang="fr-FR" sz="1400" dirty="0" smtClean="0"/>
              <a:t>: </a:t>
            </a:r>
            <a:r>
              <a:rPr lang="fr-FR" sz="1400" dirty="0" err="1"/>
              <a:t>summ</a:t>
            </a:r>
            <a:r>
              <a:rPr lang="fr-FR" sz="1400" dirty="0"/>
              <a:t>(WcontrSt10, vifs = TRUE, </a:t>
            </a:r>
            <a:r>
              <a:rPr lang="fr-FR" sz="1400" dirty="0" err="1"/>
              <a:t>part.corr</a:t>
            </a:r>
            <a:r>
              <a:rPr lang="fr-FR" sz="1400" dirty="0"/>
              <a:t> = TRUE</a:t>
            </a:r>
            <a:r>
              <a:rPr lang="fr-FR" sz="1400" dirty="0" smtClean="0"/>
              <a:t>)</a:t>
            </a:r>
          </a:p>
          <a:p>
            <a:pPr marL="0" indent="0">
              <a:buNone/>
            </a:pPr>
            <a:r>
              <a:rPr lang="fr-FR" sz="1400" dirty="0" smtClean="0"/>
              <a:t>Partial end </a:t>
            </a:r>
            <a:r>
              <a:rPr lang="fr-FR" sz="1400" dirty="0" err="1" smtClean="0"/>
              <a:t>semipartial</a:t>
            </a:r>
            <a:r>
              <a:rPr lang="fr-FR" sz="1400" dirty="0" smtClean="0"/>
              <a:t> (part) are </a:t>
            </a:r>
            <a:r>
              <a:rPr lang="fr-FR" sz="1400" dirty="0" err="1" smtClean="0"/>
              <a:t>displayed</a:t>
            </a:r>
            <a:r>
              <a:rPr lang="fr-FR" sz="1400" dirty="0"/>
              <a:t>:</a:t>
            </a:r>
            <a:endParaRPr lang="fr-FR" sz="1400" dirty="0" smtClean="0"/>
          </a:p>
          <a:p>
            <a:pPr marL="0" indent="0">
              <a:buNone/>
            </a:pPr>
            <a:r>
              <a:rPr lang="fr-FR" sz="1400" dirty="0" smtClean="0"/>
              <a:t>MODEL </a:t>
            </a:r>
            <a:r>
              <a:rPr lang="fr-FR" sz="1400" dirty="0"/>
              <a:t>INFO:</a:t>
            </a:r>
          </a:p>
          <a:p>
            <a:pPr marL="0" indent="0">
              <a:buNone/>
            </a:pPr>
            <a:r>
              <a:rPr lang="fr-FR" sz="1400" dirty="0"/>
              <a:t>Observations: 58</a:t>
            </a:r>
          </a:p>
          <a:p>
            <a:pPr marL="0" indent="0">
              <a:buNone/>
            </a:pPr>
            <a:r>
              <a:rPr lang="fr-FR" sz="1400" dirty="0" err="1"/>
              <a:t>Dependent</a:t>
            </a:r>
            <a:r>
              <a:rPr lang="fr-FR" sz="1400" dirty="0"/>
              <a:t> Variable: </a:t>
            </a:r>
            <a:r>
              <a:rPr lang="fr-FR" sz="1400" dirty="0" err="1"/>
              <a:t>Wdepcontr</a:t>
            </a:r>
            <a:endParaRPr lang="fr-FR" sz="1400" dirty="0"/>
          </a:p>
          <a:p>
            <a:pPr marL="0" indent="0">
              <a:buNone/>
            </a:pPr>
            <a:r>
              <a:rPr lang="fr-FR" sz="1400" dirty="0"/>
              <a:t>Type: OLS </a:t>
            </a:r>
            <a:r>
              <a:rPr lang="fr-FR" sz="1400" dirty="0" err="1"/>
              <a:t>linear</a:t>
            </a:r>
            <a:r>
              <a:rPr lang="fr-FR" sz="1400" dirty="0"/>
              <a:t> </a:t>
            </a:r>
            <a:r>
              <a:rPr lang="fr-FR" sz="1400" dirty="0" err="1"/>
              <a:t>regression</a:t>
            </a:r>
            <a:r>
              <a:rPr lang="fr-FR" sz="1400" dirty="0"/>
              <a:t> 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r>
              <a:rPr lang="fr-FR" sz="1400" dirty="0"/>
              <a:t>MODEL FIT:</a:t>
            </a:r>
          </a:p>
          <a:p>
            <a:pPr marL="0" indent="0">
              <a:buNone/>
            </a:pPr>
            <a:r>
              <a:rPr lang="fr-FR" sz="1400" dirty="0"/>
              <a:t>F(2,55) = 1009.69, p = 0.00</a:t>
            </a:r>
          </a:p>
          <a:p>
            <a:pPr marL="0" indent="0">
              <a:buNone/>
            </a:pPr>
            <a:r>
              <a:rPr lang="fr-FR" sz="1400" dirty="0"/>
              <a:t>R² = 0.97</a:t>
            </a:r>
          </a:p>
          <a:p>
            <a:pPr marL="0" indent="0">
              <a:buNone/>
            </a:pPr>
            <a:r>
              <a:rPr lang="fr-FR" sz="1400" dirty="0"/>
              <a:t>Adj. R² = 0.97 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r>
              <a:rPr lang="fr-FR" sz="1400" dirty="0"/>
              <a:t>Standard </a:t>
            </a:r>
            <a:r>
              <a:rPr lang="fr-FR" sz="1400" dirty="0" err="1"/>
              <a:t>errors</a:t>
            </a:r>
            <a:r>
              <a:rPr lang="fr-FR" sz="1400" dirty="0"/>
              <a:t>: OLS</a:t>
            </a:r>
          </a:p>
          <a:p>
            <a:pPr marL="0" indent="0">
              <a:buNone/>
            </a:pPr>
            <a:r>
              <a:rPr lang="fr-FR" sz="1400" dirty="0"/>
              <a:t>------------------------------------------------------------------------------</a:t>
            </a:r>
          </a:p>
          <a:p>
            <a:pPr marL="0" indent="0">
              <a:buNone/>
            </a:pPr>
            <a:r>
              <a:rPr lang="fr-FR" sz="1400" dirty="0"/>
              <a:t>                      </a:t>
            </a:r>
            <a:r>
              <a:rPr lang="fr-FR" sz="1400" dirty="0" smtClean="0"/>
              <a:t>        Est</a:t>
            </a:r>
            <a:r>
              <a:rPr lang="fr-FR" sz="1400" dirty="0"/>
              <a:t>.   S.E.   t val.      p    VIF   </a:t>
            </a:r>
            <a:r>
              <a:rPr lang="fr-FR" sz="1400" dirty="0" err="1"/>
              <a:t>partial.r</a:t>
            </a:r>
            <a:r>
              <a:rPr lang="fr-FR" sz="1400" dirty="0"/>
              <a:t>   </a:t>
            </a:r>
            <a:r>
              <a:rPr lang="fr-FR" sz="1400" dirty="0" err="1"/>
              <a:t>part.r</a:t>
            </a:r>
            <a:endParaRPr lang="fr-FR" sz="1400" dirty="0"/>
          </a:p>
          <a:p>
            <a:pPr marL="0" indent="0">
              <a:buNone/>
            </a:pPr>
            <a:r>
              <a:rPr lang="fr-FR" sz="1400" dirty="0"/>
              <a:t>-------------------- ------ ------ -------- ------ ------ ----------- --------</a:t>
            </a:r>
          </a:p>
          <a:p>
            <a:pPr marL="0" indent="0">
              <a:buNone/>
            </a:pPr>
            <a:r>
              <a:rPr lang="fr-FR" sz="1400" dirty="0"/>
              <a:t>(</a:t>
            </a:r>
            <a:r>
              <a:rPr lang="fr-FR" sz="1400" dirty="0" err="1"/>
              <a:t>Intercept</a:t>
            </a:r>
            <a:r>
              <a:rPr lang="fr-FR" sz="1400" dirty="0"/>
              <a:t>)           </a:t>
            </a:r>
            <a:r>
              <a:rPr lang="fr-FR" sz="1400" dirty="0" smtClean="0"/>
              <a:t>  </a:t>
            </a:r>
            <a:r>
              <a:rPr lang="fr-FR" sz="1400" dirty="0"/>
              <a:t>0.21   0.05     4.11   0.00                            </a:t>
            </a:r>
          </a:p>
          <a:p>
            <a:pPr marL="0" indent="0">
              <a:buNone/>
            </a:pPr>
            <a:r>
              <a:rPr lang="fr-FR" sz="1400" dirty="0"/>
              <a:t>lnRDBSt10            </a:t>
            </a:r>
            <a:r>
              <a:rPr lang="fr-FR" sz="1400" dirty="0" smtClean="0"/>
              <a:t> </a:t>
            </a:r>
            <a:r>
              <a:rPr lang="fr-FR" sz="1400" dirty="0"/>
              <a:t>0.01   0.00     2.27   0.03   7.06        0.29     0.05</a:t>
            </a:r>
          </a:p>
          <a:p>
            <a:pPr marL="0" indent="0">
              <a:buNone/>
            </a:pPr>
            <a:r>
              <a:rPr lang="fr-FR" sz="1400" dirty="0"/>
              <a:t>log(IPCONTR10) </a:t>
            </a:r>
            <a:r>
              <a:rPr lang="fr-FR" sz="1400" dirty="0" smtClean="0"/>
              <a:t> </a:t>
            </a:r>
            <a:r>
              <a:rPr lang="fr-FR" sz="1400" dirty="0"/>
              <a:t>0.05   0.00    14.79   0.00   7.06        0.89     0.32</a:t>
            </a:r>
          </a:p>
          <a:p>
            <a:pPr marL="0" indent="0">
              <a:buNone/>
            </a:pPr>
            <a:r>
              <a:rPr lang="fr-FR" sz="1400" dirty="0"/>
              <a:t>------------------------------------------------------------------------------</a:t>
            </a:r>
            <a:endParaRPr lang="fr-FR" sz="1400" dirty="0"/>
          </a:p>
          <a:p>
            <a:pPr marL="0" indent="0">
              <a:buNone/>
            </a:pPr>
            <a:endParaRPr lang="fr-FR" dirty="0" smtClean="0">
              <a:hlinkClick r:id="rId2"/>
            </a:endParaRPr>
          </a:p>
          <a:p>
            <a:pPr marL="0" indent="0">
              <a:buNone/>
            </a:pPr>
            <a:endParaRPr lang="fr-FR" dirty="0">
              <a:hlinkClick r:id="rId2"/>
            </a:endParaRP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820" y="1685666"/>
            <a:ext cx="18288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820" y="2749482"/>
            <a:ext cx="1562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124271838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Part and semi partial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 smtClean="0"/>
              <a:t>With</a:t>
            </a:r>
            <a:r>
              <a:rPr lang="fr-FR" dirty="0" smtClean="0"/>
              <a:t> the </a:t>
            </a:r>
            <a:r>
              <a:rPr lang="fr-FR" dirty="0" err="1" smtClean="0"/>
              <a:t>ols_correlations</a:t>
            </a:r>
            <a:r>
              <a:rPr lang="fr-FR" dirty="0" smtClean="0"/>
              <a:t>(model)  </a:t>
            </a:r>
            <a:r>
              <a:rPr lang="fr-FR" dirty="0" err="1" smtClean="0"/>
              <a:t>we</a:t>
            </a:r>
            <a:r>
              <a:rPr lang="fr-FR" dirty="0" smtClean="0"/>
              <a:t> have:</a:t>
            </a:r>
          </a:p>
          <a:p>
            <a:pPr marL="0" indent="0">
              <a:buNone/>
            </a:pPr>
            <a:r>
              <a:rPr lang="fr-FR" sz="1000" dirty="0"/>
              <a:t>&gt; </a:t>
            </a:r>
            <a:r>
              <a:rPr lang="fr-FR" sz="1000" dirty="0" err="1"/>
              <a:t>ols_correlations</a:t>
            </a:r>
            <a:r>
              <a:rPr lang="fr-FR" sz="1000" dirty="0"/>
              <a:t>(WcontrSt10)</a:t>
            </a:r>
          </a:p>
          <a:p>
            <a:pPr marL="0" indent="0">
              <a:buNone/>
            </a:pPr>
            <a:r>
              <a:rPr lang="fr-FR" sz="1000" dirty="0"/>
              <a:t>                  </a:t>
            </a:r>
            <a:r>
              <a:rPr lang="fr-FR" sz="1000" dirty="0" err="1"/>
              <a:t>Correlations</a:t>
            </a:r>
            <a:r>
              <a:rPr lang="fr-FR" sz="1000" dirty="0"/>
              <a:t>                   </a:t>
            </a:r>
          </a:p>
          <a:p>
            <a:pPr marL="0" indent="0">
              <a:buNone/>
            </a:pPr>
            <a:r>
              <a:rPr lang="fr-FR" sz="1000" dirty="0"/>
              <a:t>------------------------------------------------</a:t>
            </a:r>
          </a:p>
          <a:p>
            <a:pPr marL="0" indent="0">
              <a:buNone/>
            </a:pPr>
            <a:r>
              <a:rPr lang="fr-FR" sz="1000" dirty="0"/>
              <a:t>Variable          </a:t>
            </a:r>
            <a:r>
              <a:rPr lang="fr-FR" sz="1000" dirty="0" smtClean="0"/>
              <a:t>   </a:t>
            </a:r>
            <a:r>
              <a:rPr lang="fr-FR" sz="1000" dirty="0" err="1" smtClean="0"/>
              <a:t>Zero</a:t>
            </a:r>
            <a:r>
              <a:rPr lang="fr-FR" sz="1000" dirty="0" smtClean="0"/>
              <a:t> </a:t>
            </a:r>
            <a:r>
              <a:rPr lang="fr-FR" sz="1000" dirty="0" err="1"/>
              <a:t>Order</a:t>
            </a:r>
            <a:r>
              <a:rPr lang="fr-FR" sz="1000" dirty="0"/>
              <a:t>    Partial    Part  </a:t>
            </a:r>
          </a:p>
          <a:p>
            <a:pPr marL="0" indent="0">
              <a:buNone/>
            </a:pPr>
            <a:r>
              <a:rPr lang="fr-FR" sz="1000" dirty="0"/>
              <a:t>------------------------------------------------</a:t>
            </a:r>
          </a:p>
          <a:p>
            <a:pPr marL="0" indent="0">
              <a:buNone/>
            </a:pPr>
            <a:r>
              <a:rPr lang="fr-FR" sz="1000" dirty="0"/>
              <a:t>lnRDBSt10             </a:t>
            </a:r>
            <a:r>
              <a:rPr lang="fr-FR" sz="1000" dirty="0" smtClean="0"/>
              <a:t>   0.932      </a:t>
            </a:r>
            <a:r>
              <a:rPr lang="fr-FR" sz="1000" dirty="0"/>
              <a:t>0.292    0.050 </a:t>
            </a:r>
          </a:p>
          <a:p>
            <a:pPr marL="0" indent="0">
              <a:buNone/>
            </a:pPr>
            <a:r>
              <a:rPr lang="fr-FR" sz="1000" dirty="0"/>
              <a:t>log(IPCONTR10)  </a:t>
            </a:r>
            <a:r>
              <a:rPr lang="fr-FR" sz="1000" dirty="0" smtClean="0"/>
              <a:t>  </a:t>
            </a:r>
            <a:r>
              <a:rPr lang="fr-FR" sz="1000" dirty="0"/>
              <a:t>0.985      0.894    0.325 </a:t>
            </a:r>
          </a:p>
          <a:p>
            <a:pPr marL="0" indent="0">
              <a:buNone/>
            </a:pPr>
            <a:r>
              <a:rPr lang="fr-FR" sz="1000" dirty="0" smtClean="0"/>
              <a:t>------------------------------------------------</a:t>
            </a:r>
          </a:p>
          <a:p>
            <a:pPr marL="0" indent="0">
              <a:buNone/>
            </a:pPr>
            <a:r>
              <a:rPr lang="fr-FR" sz="1400" dirty="0" smtClean="0"/>
              <a:t>The </a:t>
            </a:r>
            <a:r>
              <a:rPr lang="fr-FR" sz="1400" dirty="0" err="1" smtClean="0"/>
              <a:t>three</a:t>
            </a:r>
            <a:r>
              <a:rPr lang="fr-FR" sz="1400" dirty="0" smtClean="0"/>
              <a:t> coefficients are:</a:t>
            </a:r>
            <a:endParaRPr lang="fr-FR" sz="1400" dirty="0"/>
          </a:p>
          <a:p>
            <a:pPr marL="0" indent="0">
              <a:buNone/>
            </a:pPr>
            <a:r>
              <a:rPr lang="fr-FR" sz="1400" dirty="0" err="1" smtClean="0"/>
              <a:t>Zero</a:t>
            </a:r>
            <a:r>
              <a:rPr lang="fr-FR" sz="1400" dirty="0" smtClean="0"/>
              <a:t> </a:t>
            </a:r>
            <a:r>
              <a:rPr lang="fr-FR" sz="1400" dirty="0" err="1" smtClean="0"/>
              <a:t>order</a:t>
            </a:r>
            <a:r>
              <a:rPr lang="fr-FR" sz="1400" dirty="0" smtClean="0"/>
              <a:t> = Pearson </a:t>
            </a:r>
            <a:r>
              <a:rPr lang="fr-FR" sz="1400" dirty="0" err="1" smtClean="0"/>
              <a:t>correlation</a:t>
            </a:r>
            <a:r>
              <a:rPr lang="fr-FR" sz="1400" dirty="0" smtClean="0"/>
              <a:t> coefficient of </a:t>
            </a:r>
            <a:r>
              <a:rPr lang="fr-FR" sz="1400" dirty="0" err="1" smtClean="0"/>
              <a:t>each</a:t>
            </a:r>
            <a:r>
              <a:rPr lang="fr-FR" sz="1400" dirty="0" smtClean="0"/>
              <a:t> </a:t>
            </a:r>
            <a:r>
              <a:rPr lang="fr-FR" sz="1400" dirty="0" err="1" smtClean="0"/>
              <a:t>independant</a:t>
            </a:r>
            <a:r>
              <a:rPr lang="fr-FR" sz="1400" dirty="0" smtClean="0"/>
              <a:t> </a:t>
            </a:r>
            <a:r>
              <a:rPr lang="fr-FR" sz="1400" dirty="0" err="1" smtClean="0"/>
              <a:t>with</a:t>
            </a:r>
            <a:r>
              <a:rPr lang="fr-FR" sz="1400" dirty="0" smtClean="0"/>
              <a:t> the </a:t>
            </a:r>
            <a:r>
              <a:rPr lang="fr-FR" sz="1400" dirty="0" err="1" smtClean="0"/>
              <a:t>dependant</a:t>
            </a:r>
            <a:r>
              <a:rPr lang="fr-FR" sz="1400" dirty="0" smtClean="0"/>
              <a:t> : </a:t>
            </a:r>
            <a:r>
              <a:rPr lang="fr-FR" sz="1400" dirty="0" err="1" smtClean="0"/>
              <a:t>Wdepcontr</a:t>
            </a:r>
            <a:endParaRPr lang="fr-FR" sz="1400" dirty="0" smtClean="0"/>
          </a:p>
          <a:p>
            <a:pPr marL="0" indent="0">
              <a:buNone/>
            </a:pPr>
            <a:r>
              <a:rPr lang="fr-FR" sz="1400" dirty="0" smtClean="0"/>
              <a:t>Partial == Pearson coefficient holding the </a:t>
            </a:r>
            <a:r>
              <a:rPr lang="fr-FR" sz="1400" dirty="0" err="1" smtClean="0"/>
              <a:t>independant</a:t>
            </a:r>
            <a:r>
              <a:rPr lang="fr-FR" sz="1400" dirty="0" smtClean="0"/>
              <a:t> variables constant</a:t>
            </a:r>
          </a:p>
          <a:p>
            <a:pPr marL="0" indent="0">
              <a:buNone/>
            </a:pPr>
            <a:r>
              <a:rPr lang="fr-FR" sz="1400" dirty="0" smtClean="0"/>
              <a:t>Part == Pearson coefficient holding the </a:t>
            </a:r>
            <a:r>
              <a:rPr lang="fr-FR" sz="1400" dirty="0" err="1" smtClean="0"/>
              <a:t>others</a:t>
            </a:r>
            <a:r>
              <a:rPr lang="fr-FR" sz="1400" dirty="0" smtClean="0"/>
              <a:t> (notice: not all the </a:t>
            </a:r>
            <a:r>
              <a:rPr lang="fr-FR" sz="1400" dirty="0" err="1" smtClean="0"/>
              <a:t>other</a:t>
            </a:r>
            <a:r>
              <a:rPr lang="fr-FR" sz="1400" dirty="0" smtClean="0"/>
              <a:t> !) </a:t>
            </a:r>
            <a:r>
              <a:rPr lang="fr-FR" sz="1400" dirty="0" err="1" smtClean="0"/>
              <a:t>independant</a:t>
            </a:r>
            <a:r>
              <a:rPr lang="fr-FR" sz="1400" dirty="0" smtClean="0"/>
              <a:t> variable constant</a:t>
            </a:r>
          </a:p>
          <a:p>
            <a:pPr marL="0" indent="0">
              <a:buNone/>
            </a:pPr>
            <a:r>
              <a:rPr lang="fr-FR" sz="1400" dirty="0" smtClean="0"/>
              <a:t>Part </a:t>
            </a:r>
            <a:r>
              <a:rPr lang="fr-FR" sz="1400" dirty="0" err="1" smtClean="0"/>
              <a:t>correlations</a:t>
            </a:r>
            <a:r>
              <a:rPr lang="fr-FR" sz="1400" dirty="0" smtClean="0"/>
              <a:t> </a:t>
            </a:r>
            <a:r>
              <a:rPr lang="fr-FR" sz="1400" dirty="0" err="1" smtClean="0"/>
              <a:t>can</a:t>
            </a:r>
            <a:r>
              <a:rPr lang="fr-FR" sz="1400" dirty="0" smtClean="0"/>
              <a:t> </a:t>
            </a:r>
            <a:r>
              <a:rPr lang="fr-FR" sz="1400" dirty="0" err="1" smtClean="0"/>
              <a:t>be</a:t>
            </a:r>
            <a:r>
              <a:rPr lang="fr-FR" sz="1400" dirty="0" smtClean="0"/>
              <a:t> </a:t>
            </a:r>
            <a:r>
              <a:rPr lang="fr-FR" sz="1400" dirty="0" err="1" smtClean="0"/>
              <a:t>computed</a:t>
            </a:r>
            <a:r>
              <a:rPr lang="fr-FR" sz="1400" dirty="0" smtClean="0"/>
              <a:t> </a:t>
            </a:r>
            <a:r>
              <a:rPr lang="fr-FR" sz="1400" dirty="0" err="1" smtClean="0"/>
              <a:t>directly</a:t>
            </a:r>
            <a:r>
              <a:rPr lang="fr-FR" sz="1400" dirty="0" smtClean="0"/>
              <a:t> </a:t>
            </a:r>
            <a:r>
              <a:rPr lang="fr-FR" sz="1400" dirty="0" err="1" smtClean="0"/>
              <a:t>from</a:t>
            </a:r>
            <a:r>
              <a:rPr lang="fr-FR" sz="1400" dirty="0" smtClean="0"/>
              <a:t> </a:t>
            </a:r>
            <a:r>
              <a:rPr lang="fr-FR" sz="1400" dirty="0" err="1" smtClean="0"/>
              <a:t>each</a:t>
            </a:r>
            <a:r>
              <a:rPr lang="fr-FR" sz="1400" dirty="0" smtClean="0"/>
              <a:t> variable t-stat : r²a = t²a / (t²a + </a:t>
            </a:r>
            <a:r>
              <a:rPr lang="fr-FR" sz="1400" dirty="0" err="1" smtClean="0"/>
              <a:t>df</a:t>
            </a:r>
            <a:r>
              <a:rPr lang="fr-FR" sz="1400" dirty="0" smtClean="0"/>
              <a:t>)</a:t>
            </a:r>
          </a:p>
          <a:p>
            <a:pPr marL="0" indent="0">
              <a:buNone/>
            </a:pPr>
            <a:r>
              <a:rPr lang="fr-FR" sz="1400" dirty="0" err="1" smtClean="0"/>
              <a:t>We</a:t>
            </a:r>
            <a:r>
              <a:rPr lang="fr-FR" sz="1400" dirty="0" smtClean="0"/>
              <a:t> </a:t>
            </a:r>
            <a:r>
              <a:rPr lang="fr-FR" sz="1400" dirty="0" err="1" smtClean="0"/>
              <a:t>can</a:t>
            </a:r>
            <a:r>
              <a:rPr lang="fr-FR" sz="1400" dirty="0" smtClean="0"/>
              <a:t> </a:t>
            </a:r>
            <a:r>
              <a:rPr lang="fr-FR" sz="1400" dirty="0" err="1" smtClean="0"/>
              <a:t>see</a:t>
            </a:r>
            <a:r>
              <a:rPr lang="fr-FR" sz="1400" dirty="0" smtClean="0"/>
              <a:t> the </a:t>
            </a:r>
            <a:r>
              <a:rPr lang="fr-FR" sz="1400" dirty="0" err="1" smtClean="0"/>
              <a:t>differences</a:t>
            </a:r>
            <a:r>
              <a:rPr lang="fr-FR" sz="1400" dirty="0" smtClean="0"/>
              <a:t> in the table: log </a:t>
            </a:r>
            <a:r>
              <a:rPr lang="fr-FR" sz="1400" dirty="0" err="1" smtClean="0"/>
              <a:t>price</a:t>
            </a:r>
            <a:r>
              <a:rPr lang="fr-FR" sz="1400" dirty="0" smtClean="0"/>
              <a:t> has a </a:t>
            </a:r>
            <a:r>
              <a:rPr lang="fr-FR" sz="1400" dirty="0" err="1" smtClean="0"/>
              <a:t>stronger</a:t>
            </a:r>
            <a:r>
              <a:rPr lang="fr-FR" sz="1400" dirty="0" smtClean="0"/>
              <a:t> influence but </a:t>
            </a:r>
            <a:r>
              <a:rPr lang="fr-FR" sz="1400" dirty="0" err="1" smtClean="0"/>
              <a:t>it</a:t>
            </a:r>
            <a:r>
              <a:rPr lang="fr-FR" sz="1400" dirty="0" smtClean="0"/>
              <a:t> </a:t>
            </a:r>
            <a:r>
              <a:rPr lang="fr-FR" sz="1400" dirty="0" err="1" smtClean="0"/>
              <a:t>is</a:t>
            </a:r>
            <a:r>
              <a:rPr lang="fr-FR" sz="1400" dirty="0" smtClean="0"/>
              <a:t> </a:t>
            </a:r>
            <a:r>
              <a:rPr lang="fr-FR" sz="1400" dirty="0" err="1" smtClean="0"/>
              <a:t>moderate</a:t>
            </a:r>
            <a:r>
              <a:rPr lang="fr-FR" sz="1400" dirty="0" smtClean="0"/>
              <a:t> </a:t>
            </a:r>
            <a:r>
              <a:rPr lang="fr-FR" sz="1400" dirty="0" err="1" smtClean="0"/>
              <a:t>when</a:t>
            </a:r>
            <a:r>
              <a:rPr lang="fr-FR" sz="1400" dirty="0" smtClean="0"/>
              <a:t> holding lnRDBSt10 constant, and lnRDBSt10 has </a:t>
            </a:r>
            <a:r>
              <a:rPr lang="fr-FR" sz="1400" dirty="0" err="1" smtClean="0"/>
              <a:t>nearly</a:t>
            </a:r>
            <a:r>
              <a:rPr lang="fr-FR" sz="1400" dirty="0" smtClean="0"/>
              <a:t> no influence </a:t>
            </a:r>
            <a:r>
              <a:rPr lang="fr-FR" sz="1400" dirty="0" err="1" smtClean="0"/>
              <a:t>when</a:t>
            </a:r>
            <a:r>
              <a:rPr lang="fr-FR" sz="1400" dirty="0" smtClean="0"/>
              <a:t> </a:t>
            </a:r>
            <a:r>
              <a:rPr lang="fr-FR" sz="1400" dirty="0" err="1" smtClean="0"/>
              <a:t>price</a:t>
            </a:r>
            <a:r>
              <a:rPr lang="fr-FR" sz="1400" dirty="0" smtClean="0"/>
              <a:t> </a:t>
            </a:r>
            <a:r>
              <a:rPr lang="fr-FR" sz="1400" dirty="0" err="1" smtClean="0"/>
              <a:t>is</a:t>
            </a:r>
            <a:r>
              <a:rPr lang="fr-FR" sz="1400" dirty="0" smtClean="0"/>
              <a:t> </a:t>
            </a:r>
            <a:r>
              <a:rPr lang="fr-FR" sz="1400" dirty="0" err="1" smtClean="0"/>
              <a:t>held</a:t>
            </a:r>
            <a:r>
              <a:rPr lang="fr-FR" sz="1400" dirty="0" smtClean="0"/>
              <a:t> constant.</a:t>
            </a:r>
          </a:p>
          <a:p>
            <a:pPr marL="0" indent="0">
              <a:buNone/>
            </a:pPr>
            <a:endParaRPr lang="fr-FR" sz="1400" dirty="0"/>
          </a:p>
          <a:p>
            <a:pPr marL="0" indent="0">
              <a:buNone/>
            </a:pP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561046129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Diagnostic plots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839"/>
            <a:ext cx="8229600" cy="5056742"/>
          </a:xfrm>
        </p:spPr>
        <p:txBody>
          <a:bodyPr/>
          <a:lstStyle/>
          <a:p>
            <a:r>
              <a:rPr lang="fr-FR" dirty="0" smtClean="0"/>
              <a:t>Notice the </a:t>
            </a:r>
            <a:r>
              <a:rPr lang="fr-FR" dirty="0" err="1" smtClean="0"/>
              <a:t>difference</a:t>
            </a:r>
            <a:r>
              <a:rPr lang="fr-FR" dirty="0" smtClean="0"/>
              <a:t> </a:t>
            </a:r>
            <a:r>
              <a:rPr lang="fr-FR" dirty="0" err="1" smtClean="0"/>
              <a:t>between</a:t>
            </a:r>
            <a:r>
              <a:rPr lang="fr-FR" dirty="0" smtClean="0"/>
              <a:t> plot(model) and </a:t>
            </a:r>
            <a:r>
              <a:rPr lang="fr-FR" dirty="0" err="1" smtClean="0"/>
              <a:t>ols_diagnostic</a:t>
            </a:r>
            <a:r>
              <a:rPr lang="fr-FR" dirty="0" smtClean="0"/>
              <a:t>(model) </a:t>
            </a:r>
            <a:r>
              <a:rPr lang="fr-FR" dirty="0" err="1" smtClean="0"/>
              <a:t>results</a:t>
            </a:r>
            <a:r>
              <a:rPr lang="fr-FR" dirty="0" smtClean="0"/>
              <a:t> about </a:t>
            </a:r>
            <a:r>
              <a:rPr lang="fr-FR" dirty="0" err="1" smtClean="0"/>
              <a:t>residuals</a:t>
            </a:r>
            <a:r>
              <a:rPr lang="fr-FR" dirty="0" smtClean="0"/>
              <a:t>: 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reflect</a:t>
            </a:r>
            <a:r>
              <a:rPr lang="fr-FR" dirty="0" smtClean="0"/>
              <a:t> </a:t>
            </a:r>
            <a:r>
              <a:rPr lang="fr-FR" dirty="0" err="1" smtClean="0"/>
              <a:t>developpers</a:t>
            </a:r>
            <a:r>
              <a:rPr lang="fr-FR" dirty="0" smtClean="0"/>
              <a:t> points of </a:t>
            </a:r>
            <a:r>
              <a:rPr lang="fr-FR" dirty="0" err="1" smtClean="0"/>
              <a:t>view</a:t>
            </a:r>
            <a:r>
              <a:rPr lang="fr-FR" dirty="0" smtClean="0"/>
              <a:t> about the </a:t>
            </a:r>
            <a:r>
              <a:rPr lang="fr-FR" dirty="0" err="1" smtClean="0"/>
              <a:t>statistician</a:t>
            </a:r>
            <a:r>
              <a:rPr lang="fr-FR" dirty="0" smtClean="0"/>
              <a:t> </a:t>
            </a:r>
            <a:r>
              <a:rPr lang="fr-FR" dirty="0" err="1" smtClean="0"/>
              <a:t>work</a:t>
            </a:r>
            <a:r>
              <a:rPr lang="fr-FR" dirty="0" smtClean="0"/>
              <a:t>;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 smtClean="0"/>
              <a:t>Notions of influence and </a:t>
            </a:r>
            <a:r>
              <a:rPr lang="fr-FR" dirty="0" err="1" smtClean="0"/>
              <a:t>outlying</a:t>
            </a:r>
            <a:r>
              <a:rPr lang="fr-FR" dirty="0" smtClean="0"/>
              <a:t> have been </a:t>
            </a:r>
            <a:r>
              <a:rPr lang="fr-FR" dirty="0" err="1" smtClean="0"/>
              <a:t>clarified</a:t>
            </a:r>
            <a:r>
              <a:rPr lang="fr-FR" dirty="0" smtClean="0"/>
              <a:t> but as </a:t>
            </a:r>
            <a:r>
              <a:rPr lang="fr-FR" dirty="0" err="1" smtClean="0"/>
              <a:t>usual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definitive</a:t>
            </a:r>
            <a:r>
              <a:rPr lang="fr-FR" dirty="0" smtClean="0"/>
              <a:t> </a:t>
            </a:r>
            <a:r>
              <a:rPr lang="fr-FR" dirty="0" err="1" smtClean="0"/>
              <a:t>answer</a:t>
            </a:r>
            <a:r>
              <a:rPr lang="fr-FR" dirty="0" smtClean="0"/>
              <a:t> to </a:t>
            </a:r>
            <a:r>
              <a:rPr lang="fr-FR" dirty="0" err="1" smtClean="0"/>
              <a:t>those</a:t>
            </a:r>
            <a:endParaRPr lang="fr-FR" dirty="0" smtClean="0"/>
          </a:p>
          <a:p>
            <a:pPr marL="914400" lvl="1" indent="-457200">
              <a:buFont typeface="+mj-lt"/>
              <a:buAutoNum type="arabicPeriod"/>
            </a:pPr>
            <a:r>
              <a:rPr lang="fr-FR" dirty="0" smtClean="0"/>
              <a:t>In ou </a:t>
            </a:r>
            <a:r>
              <a:rPr lang="fr-FR" dirty="0" err="1" smtClean="0"/>
              <a:t>example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not </a:t>
            </a:r>
            <a:r>
              <a:rPr lang="fr-FR" dirty="0" err="1" smtClean="0"/>
              <a:t>modify</a:t>
            </a:r>
            <a:r>
              <a:rPr lang="fr-FR" dirty="0" smtClean="0"/>
              <a:t> the </a:t>
            </a:r>
            <a:r>
              <a:rPr lang="fr-FR" dirty="0" err="1" smtClean="0"/>
              <a:t>threshold</a:t>
            </a:r>
            <a:r>
              <a:rPr lang="fr-FR" dirty="0" smtClean="0"/>
              <a:t> values of </a:t>
            </a:r>
            <a:r>
              <a:rPr lang="fr-FR" dirty="0" err="1" smtClean="0"/>
              <a:t>ols_diagnostics</a:t>
            </a:r>
            <a:r>
              <a:rPr lang="fr-FR" dirty="0" smtClean="0"/>
              <a:t>() command, </a:t>
            </a:r>
            <a:r>
              <a:rPr lang="fr-FR" dirty="0" err="1" smtClean="0"/>
              <a:t>separation</a:t>
            </a:r>
            <a:r>
              <a:rPr lang="fr-FR" dirty="0" smtClean="0"/>
              <a:t> </a:t>
            </a:r>
            <a:r>
              <a:rPr lang="fr-FR" dirty="0" err="1" smtClean="0"/>
              <a:t>thresholds</a:t>
            </a:r>
            <a:r>
              <a:rPr lang="fr-FR" dirty="0" smtClean="0"/>
              <a:t>’ are « values </a:t>
            </a:r>
            <a:r>
              <a:rPr lang="fr-FR" dirty="0" err="1" smtClean="0"/>
              <a:t>from</a:t>
            </a:r>
            <a:r>
              <a:rPr lang="fr-FR" dirty="0" smtClean="0"/>
              <a:t> the littérature » </a:t>
            </a:r>
            <a:r>
              <a:rPr lang="fr-FR" dirty="0" err="1" smtClean="0"/>
              <a:t>period</a:t>
            </a:r>
            <a:r>
              <a:rPr lang="fr-FR" dirty="0"/>
              <a:t> </a:t>
            </a:r>
            <a:r>
              <a:rPr lang="fr-FR" dirty="0" smtClean="0"/>
              <a:t>! 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 smtClean="0"/>
              <a:t>It </a:t>
            </a:r>
            <a:r>
              <a:rPr lang="fr-FR" dirty="0" err="1" smtClean="0"/>
              <a:t>seems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to </a:t>
            </a:r>
            <a:r>
              <a:rPr lang="fr-FR" dirty="0" err="1" smtClean="0"/>
              <a:t>modify</a:t>
            </a:r>
            <a:r>
              <a:rPr lang="fr-FR" dirty="0" smtClean="0"/>
              <a:t> </a:t>
            </a:r>
            <a:r>
              <a:rPr lang="fr-FR" dirty="0" err="1" smtClean="0"/>
              <a:t>those</a:t>
            </a:r>
            <a:r>
              <a:rPr lang="fr-FR" dirty="0" smtClean="0"/>
              <a:t>, one has to use the </a:t>
            </a:r>
            <a:r>
              <a:rPr lang="fr-FR" dirty="0" err="1" smtClean="0"/>
              <a:t>developper’s</a:t>
            </a:r>
            <a:r>
              <a:rPr lang="fr-FR" dirty="0" smtClean="0"/>
              <a:t> </a:t>
            </a:r>
            <a:r>
              <a:rPr lang="fr-FR" dirty="0" err="1" smtClean="0"/>
              <a:t>tools</a:t>
            </a:r>
            <a:r>
              <a:rPr lang="fr-FR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 err="1" smtClean="0"/>
              <a:t>Other</a:t>
            </a:r>
            <a:r>
              <a:rPr lang="fr-FR" dirty="0" smtClean="0"/>
              <a:t> packages </a:t>
            </a:r>
            <a:r>
              <a:rPr lang="fr-FR" dirty="0" err="1" smtClean="0"/>
              <a:t>surely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other</a:t>
            </a:r>
            <a:r>
              <a:rPr lang="fr-FR" dirty="0" smtClean="0"/>
              <a:t> values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 smtClean="0"/>
              <a:t>Be </a:t>
            </a:r>
            <a:r>
              <a:rPr lang="fr-FR" dirty="0" err="1" smtClean="0"/>
              <a:t>careful</a:t>
            </a:r>
            <a:r>
              <a:rPr lang="fr-FR" dirty="0" smtClean="0"/>
              <a:t> and check </a:t>
            </a:r>
            <a:r>
              <a:rPr lang="fr-FR" dirty="0" err="1" smtClean="0"/>
              <a:t>these</a:t>
            </a:r>
            <a:r>
              <a:rPr lang="fr-FR" dirty="0" smtClean="0"/>
              <a:t> points </a:t>
            </a:r>
            <a:r>
              <a:rPr lang="fr-FR" dirty="0" err="1" smtClean="0"/>
              <a:t>before</a:t>
            </a:r>
            <a:r>
              <a:rPr lang="fr-FR" dirty="0" smtClean="0"/>
              <a:t> if possible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602679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Some</a:t>
            </a:r>
            <a:r>
              <a:rPr lang="fr-FR" dirty="0" smtClean="0"/>
              <a:t> links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96536"/>
            <a:ext cx="8229600" cy="4573758"/>
          </a:xfrm>
        </p:spPr>
        <p:txBody>
          <a:bodyPr/>
          <a:lstStyle/>
          <a:p>
            <a:r>
              <a:rPr lang="fr-FR" dirty="0" smtClean="0"/>
              <a:t>About </a:t>
            </a:r>
            <a:r>
              <a:rPr lang="fr-FR" dirty="0" err="1" smtClean="0"/>
              <a:t>correlations</a:t>
            </a:r>
            <a:r>
              <a:rPr lang="fr-FR" dirty="0" smtClean="0"/>
              <a:t>: </a:t>
            </a:r>
          </a:p>
          <a:p>
            <a:pPr marL="0" indent="0">
              <a:buNone/>
            </a:pPr>
            <a:r>
              <a:rPr lang="fr-FR" sz="1000" dirty="0" smtClean="0">
                <a:hlinkClick r:id="rId2"/>
              </a:rPr>
              <a:t>https</a:t>
            </a:r>
            <a:r>
              <a:rPr lang="fr-FR" sz="1000" dirty="0">
                <a:hlinkClick r:id="rId2"/>
              </a:rPr>
              <a:t>://</a:t>
            </a:r>
            <a:r>
              <a:rPr lang="fr-FR" sz="1000" dirty="0" smtClean="0">
                <a:hlinkClick r:id="rId2"/>
              </a:rPr>
              <a:t>www.listendata.com/2017/03/partial-correlation.html</a:t>
            </a:r>
            <a:endParaRPr lang="fr-FR" sz="1000" dirty="0" smtClean="0"/>
          </a:p>
          <a:p>
            <a:pPr marL="0" indent="0">
              <a:buNone/>
            </a:pPr>
            <a:r>
              <a:rPr lang="fr-FR" sz="1000" dirty="0">
                <a:hlinkClick r:id="rId3"/>
              </a:rPr>
              <a:t>http://</a:t>
            </a:r>
            <a:r>
              <a:rPr lang="fr-FR" sz="1000" dirty="0" smtClean="0">
                <a:hlinkClick r:id="rId3"/>
              </a:rPr>
              <a:t>faculty.cas.usf.edu/mbrannick/regression/Partial.html</a:t>
            </a:r>
            <a:endParaRPr lang="fr-FR" sz="1000" dirty="0" smtClean="0"/>
          </a:p>
          <a:p>
            <a:r>
              <a:rPr lang="fr-FR" dirty="0" smtClean="0"/>
              <a:t>About </a:t>
            </a:r>
            <a:r>
              <a:rPr lang="fr-FR" dirty="0" err="1" smtClean="0"/>
              <a:t>leverage</a:t>
            </a:r>
            <a:endParaRPr lang="fr-FR" dirty="0" smtClean="0"/>
          </a:p>
          <a:p>
            <a:pPr marL="0" indent="0">
              <a:buNone/>
            </a:pPr>
            <a:r>
              <a:rPr lang="fr-FR" sz="1000" dirty="0">
                <a:hlinkClick r:id="rId4"/>
              </a:rPr>
              <a:t>https://newonlinecourses.science.psu.edu/stat501/print/book/export/html/337</a:t>
            </a:r>
            <a:r>
              <a:rPr lang="fr-FR" sz="1000" dirty="0" smtClean="0">
                <a:hlinkClick r:id="rId4"/>
              </a:rPr>
              <a:t>/</a:t>
            </a:r>
            <a:endParaRPr lang="fr-FR" sz="1000" dirty="0" smtClean="0"/>
          </a:p>
          <a:p>
            <a:pPr marL="0" indent="0">
              <a:buNone/>
            </a:pPr>
            <a:r>
              <a:rPr lang="fr-FR" sz="1000" dirty="0">
                <a:hlinkClick r:id="rId5"/>
              </a:rPr>
              <a:t>https://</a:t>
            </a:r>
            <a:r>
              <a:rPr lang="fr-FR" sz="1000" dirty="0" smtClean="0">
                <a:hlinkClick r:id="rId5"/>
              </a:rPr>
              <a:t>www.youtube.com/watch?v=xc_X9GFVuVU</a:t>
            </a:r>
            <a:endParaRPr lang="fr-FR" sz="1000" dirty="0" smtClean="0"/>
          </a:p>
          <a:p>
            <a:pPr marL="0" indent="0">
              <a:buNone/>
            </a:pPr>
            <a:r>
              <a:rPr lang="fr-FR" sz="1000" dirty="0">
                <a:hlinkClick r:id="rId6"/>
              </a:rPr>
              <a:t>https://</a:t>
            </a:r>
            <a:r>
              <a:rPr lang="fr-FR" sz="1000" dirty="0" smtClean="0">
                <a:hlinkClick r:id="rId6"/>
              </a:rPr>
              <a:t>www.statmethods.net/stats/rdiagnostics.html</a:t>
            </a:r>
            <a:endParaRPr lang="fr-FR" sz="1000" dirty="0" smtClean="0"/>
          </a:p>
          <a:p>
            <a:pPr marL="0" indent="0">
              <a:buNone/>
            </a:pPr>
            <a:r>
              <a:rPr lang="fr-FR" sz="1000" dirty="0">
                <a:hlinkClick r:id="rId7"/>
              </a:rPr>
              <a:t>https://www.r-bloggers.com/leverage-and-influence-in-a-nutshell</a:t>
            </a:r>
            <a:r>
              <a:rPr lang="fr-FR" sz="1000" dirty="0" smtClean="0">
                <a:hlinkClick r:id="rId7"/>
              </a:rPr>
              <a:t>/</a:t>
            </a:r>
            <a:endParaRPr lang="fr-FR" sz="1000" dirty="0" smtClean="0"/>
          </a:p>
          <a:p>
            <a:pPr marL="0" indent="0">
              <a:buNone/>
            </a:pPr>
            <a:r>
              <a:rPr lang="fr-FR" sz="1000" dirty="0" smtClean="0"/>
              <a:t>Basic R </a:t>
            </a:r>
            <a:r>
              <a:rPr lang="fr-FR" sz="1000" dirty="0" err="1" smtClean="0"/>
              <a:t>commands</a:t>
            </a:r>
            <a:r>
              <a:rPr lang="fr-FR" sz="1000" dirty="0" smtClean="0"/>
              <a:t>:</a:t>
            </a:r>
          </a:p>
          <a:p>
            <a:pPr marL="0" indent="0">
              <a:buNone/>
            </a:pPr>
            <a:r>
              <a:rPr lang="fr-FR" sz="1000" dirty="0">
                <a:hlinkClick r:id="rId8"/>
              </a:rPr>
              <a:t>https://</a:t>
            </a:r>
            <a:r>
              <a:rPr lang="fr-FR" sz="1000" dirty="0" smtClean="0">
                <a:hlinkClick r:id="rId8"/>
              </a:rPr>
              <a:t>www.rdocumentation.org/packages/car/versions/0.8-1/topics/leverage.plots</a:t>
            </a:r>
            <a:endParaRPr lang="fr-FR" sz="1000" dirty="0" smtClean="0"/>
          </a:p>
          <a:p>
            <a:r>
              <a:rPr lang="fr-FR" dirty="0" err="1" smtClean="0"/>
              <a:t>Olsrr</a:t>
            </a:r>
            <a:r>
              <a:rPr lang="fr-FR" dirty="0" smtClean="0"/>
              <a:t> command vignettes </a:t>
            </a:r>
            <a:r>
              <a:rPr lang="fr-FR" dirty="0" err="1" smtClean="0"/>
              <a:t>with</a:t>
            </a:r>
            <a:r>
              <a:rPr lang="fr-FR" dirty="0" smtClean="0"/>
              <a:t> courses:</a:t>
            </a:r>
          </a:p>
          <a:p>
            <a:pPr marL="0" indent="0">
              <a:buNone/>
            </a:pPr>
            <a:r>
              <a:rPr lang="fr-FR" sz="1200" dirty="0">
                <a:hlinkClick r:id="rId9"/>
              </a:rPr>
              <a:t>https://</a:t>
            </a:r>
            <a:r>
              <a:rPr lang="fr-FR" sz="1200" dirty="0" smtClean="0">
                <a:hlinkClick r:id="rId9"/>
              </a:rPr>
              <a:t>cran.r-project.org/web/packages/olsrr/vignettes/influence_measures.html</a:t>
            </a:r>
            <a:endParaRPr lang="fr-FR" sz="1200" dirty="0" smtClean="0"/>
          </a:p>
          <a:p>
            <a:pPr marL="0" indent="0">
              <a:buNone/>
            </a:pPr>
            <a:endParaRPr lang="fr-FR" sz="1000" dirty="0" smtClean="0"/>
          </a:p>
          <a:p>
            <a:r>
              <a:rPr lang="fr-FR" dirty="0" err="1" smtClean="0"/>
              <a:t>Ggplot</a:t>
            </a:r>
            <a:r>
              <a:rPr lang="fr-FR" dirty="0" smtClean="0"/>
              <a:t> </a:t>
            </a:r>
            <a:r>
              <a:rPr lang="fr-FR" dirty="0" err="1" smtClean="0"/>
              <a:t>tips</a:t>
            </a:r>
            <a:r>
              <a:rPr lang="fr-FR" dirty="0" smtClean="0"/>
              <a:t>:</a:t>
            </a:r>
          </a:p>
          <a:p>
            <a:pPr marL="0" indent="0">
              <a:buNone/>
            </a:pPr>
            <a:r>
              <a:rPr lang="fr-FR" sz="1000" dirty="0">
                <a:hlinkClick r:id="rId10"/>
              </a:rPr>
              <a:t>http://</a:t>
            </a:r>
            <a:r>
              <a:rPr lang="fr-FR" sz="1000" dirty="0" smtClean="0">
                <a:hlinkClick r:id="rId10"/>
              </a:rPr>
              <a:t>www.sthda.com/english/wiki/be-awesome-in-ggplot2-a-practical-guide-to-be-highly-effective-r-software-and-data-visualization</a:t>
            </a:r>
            <a:endParaRPr lang="fr-FR" sz="1000" dirty="0" smtClean="0"/>
          </a:p>
          <a:p>
            <a:pPr marL="0" indent="0">
              <a:buNone/>
            </a:pP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1006197392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1. Garde">
  <a:themeElements>
    <a:clrScheme name="Bureau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18926</TotalTime>
  <Words>441</Words>
  <Application>Microsoft Office PowerPoint</Application>
  <PresentationFormat>Affichage à l'écran (4:3)</PresentationFormat>
  <Paragraphs>88</Paragraphs>
  <Slides>7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1. Garde</vt:lpstr>
      <vt:lpstr>Présentation PowerPoint</vt:lpstr>
      <vt:lpstr>French households constrained expenditures in the long run 1959 - 2016</vt:lpstr>
      <vt:lpstr>We study here the interaction between these categories of expenditures </vt:lpstr>
      <vt:lpstr>correlations</vt:lpstr>
      <vt:lpstr>Part and semi partial</vt:lpstr>
      <vt:lpstr>Diagnostic plots</vt:lpstr>
      <vt:lpstr>Some links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Antoine Missemer</dc:creator>
  <cp:lastModifiedBy>Zardoz</cp:lastModifiedBy>
  <cp:revision>724</cp:revision>
  <dcterms:created xsi:type="dcterms:W3CDTF">2010-07-11T08:38:31Z</dcterms:created>
  <dcterms:modified xsi:type="dcterms:W3CDTF">2019-06-21T10:43:15Z</dcterms:modified>
</cp:coreProperties>
</file>