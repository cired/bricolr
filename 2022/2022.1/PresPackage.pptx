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1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5" r:id="rId8"/>
    <p:sldId id="267" r:id="rId9"/>
    <p:sldId id="271" r:id="rId10"/>
    <p:sldId id="270" r:id="rId11"/>
    <p:sldId id="272" r:id="rId12"/>
    <p:sldId id="273" r:id="rId13"/>
    <p:sldId id="274" r:id="rId14"/>
    <p:sldId id="269" r:id="rId15"/>
    <p:sldId id="268" r:id="rId16"/>
    <p:sldId id="275" r:id="rId17"/>
    <p:sldId id="276" r:id="rId18"/>
    <p:sldId id="278" r:id="rId19"/>
    <p:sldId id="280" r:id="rId20"/>
    <p:sldId id="279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>
        <p:scale>
          <a:sx n="88" d="100"/>
          <a:sy n="88" d="100"/>
        </p:scale>
        <p:origin x="-108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8B9EBBA-996F-894A-B54A-D6246ED52CEA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6273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FA1846-DA80-1C48-A609-854EA85C59AD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67802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83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08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1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55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DF5E60-9974-AC48-9591-99C2BB44B7CF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22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257768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7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351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mit.edu/insong/www/pdf/rpackage_instructions.pdf" TargetMode="External"/><Relationship Id="rId2" Type="http://schemas.openxmlformats.org/officeDocument/2006/relationships/hyperlink" Target="https://r-pkg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47PN2VG3RmI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46DED14-DACC-46AF-A2B3-0744B47C3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Matisse-CIRED</a:t>
            </a:r>
            <a:br>
              <a:rPr lang="fr-FR" dirty="0"/>
            </a:br>
            <a:r>
              <a:rPr lang="fr-FR" dirty="0"/>
              <a:t>Un package 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7BC6B71C-2158-4E22-9EC7-A9DA0FFA7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Penser, construire et utiliser un package R</a:t>
            </a:r>
          </a:p>
        </p:txBody>
      </p:sp>
    </p:spTree>
    <p:extLst>
      <p:ext uri="{BB962C8B-B14F-4D97-AF65-F5344CB8AC3E}">
        <p14:creationId xmlns:p14="http://schemas.microsoft.com/office/powerpoint/2010/main" val="400428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/>
          <a:lstStyle/>
          <a:p>
            <a:r>
              <a:rPr lang="fr-FR" dirty="0"/>
              <a:t>Matisse CIRED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Matisse c’est quoi?</a:t>
            </a:r>
          </a:p>
          <a:p>
            <a:r>
              <a:rPr lang="fr-FR" dirty="0"/>
              <a:t>Pourquoi un package ?</a:t>
            </a:r>
          </a:p>
          <a:p>
            <a:r>
              <a:rPr lang="fr-FR" dirty="0"/>
              <a:t>Construire son package</a:t>
            </a:r>
          </a:p>
          <a:p>
            <a:r>
              <a:rPr lang="fr-FR" dirty="0"/>
              <a:t>Penser son package</a:t>
            </a:r>
          </a:p>
          <a:p>
            <a:endParaRPr lang="fr-FR" dirty="0"/>
          </a:p>
          <a:p>
            <a:r>
              <a:rPr lang="fr-FR" dirty="0"/>
              <a:t>Questions libres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0870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Matisse c’est quoi?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en-US" dirty="0"/>
              <a:t>Microsimulation Assessment within the low-carbon Transition of Inequalities and Sustainable Systems of Energy</a:t>
            </a:r>
            <a:endParaRPr lang="fr-FR" dirty="0"/>
          </a:p>
          <a:p>
            <a:r>
              <a:rPr lang="fr-FR" dirty="0"/>
              <a:t>Un modèle de microsimulation, basé sur l’enquête BDF de l’INSEE, développé par Emilien Ravigné et Frédéric Ghersi</a:t>
            </a:r>
          </a:p>
          <a:p>
            <a:r>
              <a:rPr lang="fr-FR" dirty="0"/>
              <a:t>Objectif : obtenir un vision détaillée de l’impact de la transition pour les ménages</a:t>
            </a:r>
          </a:p>
          <a:p>
            <a:r>
              <a:rPr lang="fr-FR" dirty="0"/>
              <a:t>Mon stage 2021 : travailler sur les résultats du modèle et l’empaqueter pour le rendre ‘clé en main’</a:t>
            </a:r>
          </a:p>
          <a:p>
            <a:r>
              <a:rPr lang="fr-FR" dirty="0"/>
              <a:t>Développement </a:t>
            </a:r>
            <a:r>
              <a:rPr lang="fr-FR" dirty="0" err="1"/>
              <a:t>legacy</a:t>
            </a:r>
            <a:r>
              <a:rPr lang="fr-FR" dirty="0"/>
              <a:t> en R, format script</a:t>
            </a:r>
          </a:p>
          <a:p>
            <a:r>
              <a:rPr lang="fr-FR" dirty="0"/>
              <a:t>Fonctionnement par étapes : mise en forme, mise à l’échelle, microsimulation, changement technique, repondération…</a:t>
            </a:r>
          </a:p>
        </p:txBody>
      </p:sp>
    </p:spTree>
    <p:extLst>
      <p:ext uri="{BB962C8B-B14F-4D97-AF65-F5344CB8AC3E}">
        <p14:creationId xmlns:p14="http://schemas.microsoft.com/office/powerpoint/2010/main" val="70940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Matisse c’est quoi? – Code R </a:t>
            </a:r>
            <a:r>
              <a:rPr lang="fr-FR" dirty="0" err="1"/>
              <a:t>legacy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Une vingtaine de fichiers d’input : données BDF, analyse microéconomique, diverses sources de raffinement du modèle, paramètres d’entrée </a:t>
            </a:r>
          </a:p>
          <a:p>
            <a:r>
              <a:rPr lang="fr-FR" dirty="0"/>
              <a:t>Des sorties sous le même format (</a:t>
            </a:r>
            <a:r>
              <a:rPr lang="fr-FR" dirty="0" err="1"/>
              <a:t>dataframe</a:t>
            </a:r>
            <a:r>
              <a:rPr lang="fr-FR" dirty="0"/>
              <a:t> </a:t>
            </a:r>
            <a:r>
              <a:rPr lang="fr-FR" dirty="0" err="1"/>
              <a:t>menage</a:t>
            </a:r>
            <a:r>
              <a:rPr lang="fr-FR" dirty="0"/>
              <a:t>)</a:t>
            </a:r>
          </a:p>
          <a:p>
            <a:r>
              <a:rPr lang="fr-FR" dirty="0" smtClean="0"/>
              <a:t>Un </a:t>
            </a:r>
            <a:r>
              <a:rPr lang="fr-FR" dirty="0"/>
              <a:t>fonctionnement linéaire basé sur des scripts</a:t>
            </a:r>
          </a:p>
          <a:p>
            <a:r>
              <a:rPr lang="fr-FR" dirty="0"/>
              <a:t>Un paramétrage par des variables indépendantes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721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Pourquoi un package ?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Fonctionnement Script : </a:t>
            </a:r>
          </a:p>
          <a:p>
            <a:pPr lvl="1"/>
            <a:r>
              <a:rPr lang="fr-FR" dirty="0"/>
              <a:t>Un ensemble de fichiers .r exécutés successivement à partir d’un script mère dans une console unique R</a:t>
            </a:r>
          </a:p>
          <a:p>
            <a:pPr lvl="1"/>
            <a:r>
              <a:rPr lang="fr-FR" dirty="0"/>
              <a:t>L’appel des données et le retour sont effectués dans les scripts</a:t>
            </a:r>
          </a:p>
          <a:p>
            <a:pPr lvl="1"/>
            <a:endParaRPr lang="fr-FR" dirty="0"/>
          </a:p>
          <a:p>
            <a:r>
              <a:rPr lang="fr-FR" dirty="0"/>
              <a:t>Fonctionnement Package</a:t>
            </a:r>
          </a:p>
          <a:p>
            <a:pPr lvl="1"/>
            <a:r>
              <a:rPr lang="fr-FR" dirty="0"/>
              <a:t>Les fonctions centrales sont empaquetées dans un package qui est chargé et peut ensuite être utilisé par le script-mère</a:t>
            </a:r>
          </a:p>
          <a:p>
            <a:pPr lvl="1"/>
            <a:r>
              <a:rPr lang="fr-FR" dirty="0"/>
              <a:t>Passage des données par les arguments des fonctions. Distinction de la gestion des données (input, output, </a:t>
            </a:r>
            <a:r>
              <a:rPr lang="fr-FR" dirty="0" err="1"/>
              <a:t>save</a:t>
            </a:r>
            <a:r>
              <a:rPr lang="fr-FR" dirty="0"/>
              <a:t>) et du traitement des données (transformation des données)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387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Pourquoi un package ? - Script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xmlns="" id="{49B82B2F-48F4-49AF-81EF-2B137EE74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1844"/>
              </p:ext>
            </p:extLst>
          </p:nvPr>
        </p:nvGraphicFramePr>
        <p:xfrm>
          <a:off x="1371600" y="1444054"/>
          <a:ext cx="9448800" cy="4451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xmlns="" val="4151203158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xmlns="" val="2601913481"/>
                    </a:ext>
                  </a:extLst>
                </a:gridCol>
              </a:tblGrid>
              <a:tr h="793472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1644346"/>
                  </a:ext>
                </a:extLst>
              </a:tr>
              <a:tr h="35376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Simplicité de rédaction pour un développeur/user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Rapidité de mise en place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Uniformité du code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simplifiée des interférences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Liberté de structure du code, y compris dans l’organisation des répertoires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Liberté pour les variables, paramètres et arguments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Rigidité pour un travail partagé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Difficultés lors du lancement depuis d’autres interfaces (Excel, Python…)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Nombreux fichiers de script à organiser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 la mémoire moins propre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des dépendances packages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des fonctions génériques du code : charge le global </a:t>
                      </a:r>
                      <a:r>
                        <a:rPr lang="fr-FR" dirty="0" err="1"/>
                        <a:t>env</a:t>
                      </a: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des répertoires des scripts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31032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71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Pourquoi un package ? - Package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xmlns="" id="{49B82B2F-48F4-49AF-81EF-2B137EE74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502796"/>
              </p:ext>
            </p:extLst>
          </p:nvPr>
        </p:nvGraphicFramePr>
        <p:xfrm>
          <a:off x="1371600" y="1444054"/>
          <a:ext cx="9448800" cy="503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xmlns="" val="4151203158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xmlns="" val="2601913481"/>
                    </a:ext>
                  </a:extLst>
                </a:gridCol>
              </a:tblGrid>
              <a:tr h="793472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1644346"/>
                  </a:ext>
                </a:extLst>
              </a:tr>
              <a:tr h="35376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Fonctionnalisation du code, facilite le réemploi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Permet un interfaçage plus simple avec d’autres outils (</a:t>
                      </a:r>
                      <a:r>
                        <a:rPr lang="fr-FR" dirty="0" err="1"/>
                        <a:t>install</a:t>
                      </a:r>
                      <a:r>
                        <a:rPr lang="fr-FR" dirty="0"/>
                        <a:t> simple)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des dépendances (autres </a:t>
                      </a:r>
                      <a:r>
                        <a:rPr lang="fr-FR" dirty="0" err="1"/>
                        <a:t>libs</a:t>
                      </a:r>
                      <a:r>
                        <a:rPr lang="fr-FR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Versioning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Documentation </a:t>
                      </a:r>
                      <a:r>
                        <a:rPr lang="fr-FR" dirty="0" err="1"/>
                        <a:t>hors-code</a:t>
                      </a:r>
                      <a:r>
                        <a:rPr lang="fr-FR" dirty="0"/>
                        <a:t> (</a:t>
                      </a:r>
                      <a:r>
                        <a:rPr lang="fr-FR" dirty="0" err="1"/>
                        <a:t>Roxygen</a:t>
                      </a:r>
                      <a:r>
                        <a:rPr lang="fr-FR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 la mémoire automatique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‘Bonnes pratiques’ de code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 err="1"/>
                        <a:t>Autofill</a:t>
                      </a:r>
                      <a:r>
                        <a:rPr lang="fr-FR" dirty="0"/>
                        <a:t> lors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Publication CRAN (ou pas…)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Un </a:t>
                      </a:r>
                      <a:r>
                        <a:rPr lang="fr-FR" dirty="0" err="1"/>
                        <a:t>load</a:t>
                      </a:r>
                      <a:r>
                        <a:rPr lang="fr-FR" dirty="0"/>
                        <a:t> et on est parti !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2000" b="1" dirty="0"/>
                        <a:t>Un investissement sur le long terme</a:t>
                      </a:r>
                      <a:endParaRPr lang="fr-FR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Nécessite une structuration plus aboutie (folders, </a:t>
                      </a:r>
                      <a:r>
                        <a:rPr lang="fr-FR" dirty="0" err="1"/>
                        <a:t>project</a:t>
                      </a:r>
                      <a:r>
                        <a:rPr lang="fr-FR" dirty="0"/>
                        <a:t>…)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Besoin de penser ‘en fonctions’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des paramètres globaux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Gestion des fichiers externes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Rédaction de la documentation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Ca ‘fait peur’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 à tort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31032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83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- Express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>
            <a:normAutofit/>
          </a:bodyPr>
          <a:lstStyle/>
          <a:p>
            <a:r>
              <a:rPr lang="fr-FR" dirty="0" err="1"/>
              <a:t>Rstudio</a:t>
            </a:r>
            <a:r>
              <a:rPr lang="fr-FR" dirty="0"/>
              <a:t> - Version de R à jour</a:t>
            </a:r>
          </a:p>
          <a:p>
            <a:r>
              <a:rPr lang="fr-FR" dirty="0" err="1"/>
              <a:t>install.packages</a:t>
            </a:r>
            <a:r>
              <a:rPr lang="fr-FR" dirty="0"/>
              <a:t>(c("</a:t>
            </a:r>
            <a:r>
              <a:rPr lang="fr-FR" dirty="0" err="1"/>
              <a:t>devtools</a:t>
            </a:r>
            <a:r>
              <a:rPr lang="fr-FR" dirty="0"/>
              <a:t>", "roxygen2", "</a:t>
            </a:r>
            <a:r>
              <a:rPr lang="fr-FR" dirty="0" err="1"/>
              <a:t>testthat</a:t>
            </a:r>
            <a:r>
              <a:rPr lang="fr-FR" dirty="0"/>
              <a:t>", "</a:t>
            </a:r>
            <a:r>
              <a:rPr lang="fr-FR" dirty="0" err="1"/>
              <a:t>knitr</a:t>
            </a:r>
            <a:r>
              <a:rPr lang="fr-FR" dirty="0"/>
              <a:t>"))</a:t>
            </a:r>
          </a:p>
          <a:p>
            <a:pPr lvl="1"/>
            <a:r>
              <a:rPr lang="fr-FR" dirty="0" err="1"/>
              <a:t>Devtools</a:t>
            </a:r>
            <a:r>
              <a:rPr lang="fr-FR" dirty="0"/>
              <a:t> : </a:t>
            </a:r>
            <a:r>
              <a:rPr lang="fr-FR" dirty="0" err="1"/>
              <a:t>build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Roxygen2 : documentation</a:t>
            </a:r>
          </a:p>
          <a:p>
            <a:pPr lvl="1"/>
            <a:r>
              <a:rPr lang="fr-FR" dirty="0" err="1"/>
              <a:t>Testthat</a:t>
            </a:r>
            <a:r>
              <a:rPr lang="fr-FR" dirty="0"/>
              <a:t> : test</a:t>
            </a:r>
          </a:p>
          <a:p>
            <a:pPr lvl="1"/>
            <a:r>
              <a:rPr lang="fr-FR" dirty="0" err="1"/>
              <a:t>Knitr</a:t>
            </a:r>
            <a:r>
              <a:rPr lang="fr-FR" dirty="0"/>
              <a:t> : </a:t>
            </a:r>
            <a:r>
              <a:rPr lang="fr-FR" dirty="0" err="1"/>
              <a:t>reporting</a:t>
            </a:r>
            <a:endParaRPr lang="fr-FR" dirty="0"/>
          </a:p>
          <a:p>
            <a:r>
              <a:rPr lang="fr-FR" dirty="0"/>
              <a:t>File -&gt; New Project -&gt; R package</a:t>
            </a:r>
          </a:p>
          <a:p>
            <a:r>
              <a:rPr lang="fr-FR" dirty="0" err="1"/>
              <a:t>Build</a:t>
            </a:r>
            <a:r>
              <a:rPr lang="fr-FR" dirty="0"/>
              <a:t> -&gt; </a:t>
            </a:r>
            <a:r>
              <a:rPr lang="fr-FR" dirty="0" err="1"/>
              <a:t>Build</a:t>
            </a:r>
            <a:r>
              <a:rPr lang="fr-FR" dirty="0"/>
              <a:t> Source Package</a:t>
            </a:r>
          </a:p>
          <a:p>
            <a:endParaRPr lang="fr-FR" dirty="0"/>
          </a:p>
          <a:p>
            <a:r>
              <a:rPr lang="fr-FR" dirty="0"/>
              <a:t>Trial and </a:t>
            </a:r>
            <a:r>
              <a:rPr lang="fr-FR" dirty="0" err="1"/>
              <a:t>error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CB761FE1-7F48-445D-B59B-97FF39985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168" y="3232838"/>
            <a:ext cx="2045117" cy="248391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C303D73-C6C6-4119-9D2B-9CC9AF633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98" y="4834125"/>
            <a:ext cx="2045118" cy="178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5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–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>
            <a:normAutofit/>
          </a:bodyPr>
          <a:lstStyle/>
          <a:p>
            <a:r>
              <a:rPr lang="fr-FR" dirty="0"/>
              <a:t>.</a:t>
            </a:r>
            <a:r>
              <a:rPr lang="fr-FR" dirty="0" err="1"/>
              <a:t>gitignore</a:t>
            </a:r>
            <a:r>
              <a:rPr lang="fr-FR" dirty="0"/>
              <a:t> / .</a:t>
            </a:r>
            <a:r>
              <a:rPr lang="fr-FR" dirty="0" err="1"/>
              <a:t>Rbuildignore</a:t>
            </a:r>
            <a:r>
              <a:rPr lang="fr-FR" dirty="0"/>
              <a:t> : les fichiers à ignorer par git et </a:t>
            </a:r>
            <a:r>
              <a:rPr lang="fr-FR" dirty="0" err="1"/>
              <a:t>Rbuild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C303D73-C6C6-4119-9D2B-9CC9AF633A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46"/>
          <a:stretch/>
        </p:blipFill>
        <p:spPr>
          <a:xfrm>
            <a:off x="8365959" y="1804737"/>
            <a:ext cx="3248526" cy="418683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7C8F82B-D985-4622-9A3F-209ADAF2E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496" y="1918033"/>
            <a:ext cx="2353177" cy="12006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37476FD6-D883-4E6A-95D1-2E298C4AB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222" y="2314073"/>
            <a:ext cx="2353177" cy="294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1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–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>
            <a:normAutofit/>
          </a:bodyPr>
          <a:lstStyle/>
          <a:p>
            <a:r>
              <a:rPr lang="fr-FR" dirty="0"/>
              <a:t>DESCRIPTION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C303D73-C6C6-4119-9D2B-9CC9AF633A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46"/>
          <a:stretch/>
        </p:blipFill>
        <p:spPr>
          <a:xfrm>
            <a:off x="8365959" y="1804737"/>
            <a:ext cx="3248526" cy="418683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A7D02C3E-451A-435F-8DDC-3D6ABF2D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183732"/>
            <a:ext cx="82677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67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–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>
            <a:normAutofit/>
          </a:bodyPr>
          <a:lstStyle/>
          <a:p>
            <a:r>
              <a:rPr lang="fr-FR" dirty="0"/>
              <a:t>NAMESPACE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C303D73-C6C6-4119-9D2B-9CC9AF633A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46"/>
          <a:stretch/>
        </p:blipFill>
        <p:spPr>
          <a:xfrm>
            <a:off x="8365959" y="1804737"/>
            <a:ext cx="3248526" cy="418683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CB4A0185-3EDC-4728-A382-AEB49C2A3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590" y="2099009"/>
            <a:ext cx="43719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2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–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>
            <a:normAutofit/>
          </a:bodyPr>
          <a:lstStyle/>
          <a:p>
            <a:r>
              <a:rPr lang="fr-FR" dirty="0"/>
              <a:t>man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C303D73-C6C6-4119-9D2B-9CC9AF633A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46"/>
          <a:stretch/>
        </p:blipFill>
        <p:spPr>
          <a:xfrm>
            <a:off x="8365959" y="1804737"/>
            <a:ext cx="3248526" cy="418683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75EE47F9-2131-4279-8A77-16D09FBA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43" y="1870408"/>
            <a:ext cx="5257800" cy="17811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17480D8C-448F-4E92-A1A7-3DB9CBD78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897" y="3898155"/>
            <a:ext cx="6791325" cy="2314575"/>
          </a:xfrm>
          <a:prstGeom prst="rect">
            <a:avLst/>
          </a:prstGeom>
        </p:spPr>
      </p:pic>
      <p:sp>
        <p:nvSpPr>
          <p:cNvPr id="10" name="Flèche : virage 9">
            <a:extLst>
              <a:ext uri="{FF2B5EF4-FFF2-40B4-BE49-F238E27FC236}">
                <a16:creationId xmlns:a16="http://schemas.microsoft.com/office/drawing/2014/main" xmlns="" id="{088543AF-86D2-4198-AB03-568FBE7D4ED7}"/>
              </a:ext>
            </a:extLst>
          </p:cNvPr>
          <p:cNvSpPr/>
          <p:nvPr/>
        </p:nvSpPr>
        <p:spPr>
          <a:xfrm rot="10800000" flipH="1">
            <a:off x="2160170" y="3782927"/>
            <a:ext cx="794084" cy="97656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01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–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>
            <a:normAutofit/>
          </a:bodyPr>
          <a:lstStyle/>
          <a:p>
            <a:r>
              <a:rPr lang="fr-FR" dirty="0"/>
              <a:t>R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C303D73-C6C6-4119-9D2B-9CC9AF633A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46"/>
          <a:stretch/>
        </p:blipFill>
        <p:spPr>
          <a:xfrm>
            <a:off x="8365959" y="1804737"/>
            <a:ext cx="3248526" cy="418683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345FC2D1-7624-4E95-8D6F-046FF6AC7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026" y="1804737"/>
            <a:ext cx="3581400" cy="234315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8B02AA3F-51E6-4F50-AA10-03DC64A6C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832" y="3713166"/>
            <a:ext cx="5272840" cy="2588956"/>
          </a:xfrm>
          <a:prstGeom prst="rect">
            <a:avLst/>
          </a:prstGeom>
        </p:spPr>
      </p:pic>
      <p:sp>
        <p:nvSpPr>
          <p:cNvPr id="12" name="Flèche : virage 11">
            <a:extLst>
              <a:ext uri="{FF2B5EF4-FFF2-40B4-BE49-F238E27FC236}">
                <a16:creationId xmlns:a16="http://schemas.microsoft.com/office/drawing/2014/main" xmlns="" id="{B3F0F107-7389-4DF8-AEAA-293164237D9D}"/>
              </a:ext>
            </a:extLst>
          </p:cNvPr>
          <p:cNvSpPr/>
          <p:nvPr/>
        </p:nvSpPr>
        <p:spPr>
          <a:xfrm rot="10800000" flipH="1">
            <a:off x="1839328" y="4312317"/>
            <a:ext cx="794084" cy="97656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862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- Attention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Nom du package/</a:t>
            </a:r>
            <a:r>
              <a:rPr lang="fr-FR" dirty="0" err="1"/>
              <a:t>project</a:t>
            </a:r>
            <a:r>
              <a:rPr lang="fr-FR" dirty="0"/>
              <a:t> : attention aux autres packages installés, conflits…</a:t>
            </a:r>
          </a:p>
          <a:p>
            <a:r>
              <a:rPr lang="fr-FR" dirty="0"/>
              <a:t>Type de </a:t>
            </a:r>
            <a:r>
              <a:rPr lang="fr-FR" dirty="0" err="1"/>
              <a:t>build</a:t>
            </a:r>
            <a:r>
              <a:rPr lang="fr-FR" dirty="0"/>
              <a:t> : source = simplicité</a:t>
            </a:r>
          </a:p>
          <a:p>
            <a:r>
              <a:rPr lang="fr-FR" dirty="0"/>
              <a:t>Localisation du folder</a:t>
            </a:r>
          </a:p>
          <a:p>
            <a:r>
              <a:rPr lang="fr-FR" dirty="0"/>
              <a:t>Lien Git : version control, partage</a:t>
            </a:r>
          </a:p>
          <a:p>
            <a:r>
              <a:rPr lang="fr-FR" dirty="0"/>
              <a:t>Noms des fichiers R pour faciliter le suivi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525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Construire son package - Ressources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>
                <a:hlinkClick r:id="rId2"/>
              </a:rPr>
              <a:t>https://r-pkgs.org/</a:t>
            </a:r>
            <a:r>
              <a:rPr lang="fr-FR" dirty="0"/>
              <a:t> : en détail</a:t>
            </a:r>
          </a:p>
          <a:p>
            <a:r>
              <a:rPr lang="fr-FR" dirty="0">
                <a:hlinkClick r:id="rId3"/>
              </a:rPr>
              <a:t>https://web.mit.edu/insong/www/pdf/rpackage_instructions.pdf</a:t>
            </a:r>
            <a:r>
              <a:rPr lang="fr-FR" dirty="0"/>
              <a:t> : 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bascis</a:t>
            </a:r>
            <a:endParaRPr lang="fr-FR" dirty="0"/>
          </a:p>
          <a:p>
            <a:r>
              <a:rPr lang="fr-FR" dirty="0">
                <a:hlinkClick r:id="rId4"/>
              </a:rPr>
              <a:t>https://www.youtube.com/watch?v=47PN2VG3RmI</a:t>
            </a:r>
            <a:r>
              <a:rPr lang="fr-FR" dirty="0"/>
              <a:t> : une vidéo très simple pour la création d’un package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647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(1)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Matisse : beaucoup de dépendances de données</a:t>
            </a:r>
          </a:p>
          <a:p>
            <a:pPr lvl="1"/>
            <a:r>
              <a:rPr lang="fr-FR" dirty="0"/>
              <a:t>Utilisation d’un référencement à deux étages :</a:t>
            </a:r>
          </a:p>
          <a:p>
            <a:pPr lvl="2"/>
            <a:r>
              <a:rPr lang="fr-FR" dirty="0"/>
              <a:t>Une variable d’environnement Windows</a:t>
            </a:r>
          </a:p>
          <a:p>
            <a:pPr lvl="2"/>
            <a:r>
              <a:rPr lang="fr-FR" dirty="0"/>
              <a:t>Une variable globale qui contient les fichiers</a:t>
            </a:r>
          </a:p>
          <a:p>
            <a:r>
              <a:rPr lang="fr-FR" dirty="0"/>
              <a:t>Beaucoup de paramètres</a:t>
            </a:r>
          </a:p>
          <a:p>
            <a:pPr lvl="1"/>
            <a:r>
              <a:rPr lang="fr-FR" dirty="0"/>
              <a:t>Utilisation d’une variable globale </a:t>
            </a:r>
            <a:r>
              <a:rPr lang="fr-FR" dirty="0" err="1"/>
              <a:t>list</a:t>
            </a:r>
            <a:r>
              <a:rPr lang="fr-FR" dirty="0"/>
              <a:t> des paramètres du modèle</a:t>
            </a:r>
          </a:p>
          <a:p>
            <a:r>
              <a:rPr lang="fr-FR" dirty="0"/>
              <a:t>Chargement des </a:t>
            </a:r>
            <a:r>
              <a:rPr lang="fr-FR" dirty="0" err="1"/>
              <a:t>library</a:t>
            </a:r>
            <a:endParaRPr lang="fr-FR" dirty="0"/>
          </a:p>
          <a:p>
            <a:pPr lvl="1"/>
            <a:r>
              <a:rPr lang="fr-FR" dirty="0"/>
              <a:t>Idéalement, déclaration ‘propre’ des </a:t>
            </a:r>
            <a:r>
              <a:rPr lang="fr-FR" dirty="0" err="1"/>
              <a:t>library</a:t>
            </a:r>
            <a:r>
              <a:rPr lang="fr-FR" dirty="0"/>
              <a:t> (CRAN)</a:t>
            </a:r>
          </a:p>
          <a:p>
            <a:pPr lvl="1"/>
            <a:r>
              <a:rPr lang="fr-FR" dirty="0"/>
              <a:t>Option </a:t>
            </a:r>
            <a:r>
              <a:rPr lang="fr-FR" dirty="0" err="1"/>
              <a:t>rapido</a:t>
            </a:r>
            <a:r>
              <a:rPr lang="fr-FR" dirty="0"/>
              <a:t> : fonction </a:t>
            </a:r>
            <a:r>
              <a:rPr lang="fr-FR" dirty="0" err="1"/>
              <a:t>initialize</a:t>
            </a:r>
            <a:endParaRPr lang="fr-FR" dirty="0"/>
          </a:p>
          <a:p>
            <a:pPr lvl="1"/>
            <a:endParaRPr lang="fr-FR" dirty="0"/>
          </a:p>
          <a:p>
            <a:r>
              <a:rPr lang="fr-FR" b="1" dirty="0"/>
              <a:t>Utilisation de variables globales pour référencement de paramètres et de fichiers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603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(1)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A9AFC521-B4CD-43B7-8B62-655419446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631" y="1372102"/>
            <a:ext cx="4048125" cy="26860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B61C6437-5D3A-4608-8DDE-E982D2C4F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507" y="3092867"/>
            <a:ext cx="467677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48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(2)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Utilisation de </a:t>
            </a:r>
            <a:r>
              <a:rPr lang="fr-FR" dirty="0" err="1"/>
              <a:t>Roxygen</a:t>
            </a:r>
            <a:endParaRPr lang="fr-FR" dirty="0"/>
          </a:p>
          <a:p>
            <a:pPr lvl="1"/>
            <a:r>
              <a:rPr lang="fr-FR" dirty="0"/>
              <a:t>Permet de documenter efficacement le contenu d’une fonction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4BAFAEC-A11C-4751-94EB-058CA1A0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878" y="5012948"/>
            <a:ext cx="2581275" cy="2857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ADA255CC-1104-4EC7-B96A-6C89DF366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38" y="2278175"/>
            <a:ext cx="8668753" cy="23016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284C35B5-4F40-4830-AAFB-CAAFE75F4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759" y="3248263"/>
            <a:ext cx="4299534" cy="3461544"/>
          </a:xfrm>
          <a:prstGeom prst="rect">
            <a:avLst/>
          </a:prstGeom>
        </p:spPr>
      </p:pic>
      <p:sp>
        <p:nvSpPr>
          <p:cNvPr id="10" name="Flèche : virage 9">
            <a:extLst>
              <a:ext uri="{FF2B5EF4-FFF2-40B4-BE49-F238E27FC236}">
                <a16:creationId xmlns:a16="http://schemas.microsoft.com/office/drawing/2014/main" xmlns="" id="{448B32F1-4443-4BEF-BED0-AF73FE9BD7CD}"/>
              </a:ext>
            </a:extLst>
          </p:cNvPr>
          <p:cNvSpPr/>
          <p:nvPr/>
        </p:nvSpPr>
        <p:spPr>
          <a:xfrm rot="10800000" flipH="1">
            <a:off x="2996363" y="4712964"/>
            <a:ext cx="778044" cy="58573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Flèche : virage 10">
            <a:extLst>
              <a:ext uri="{FF2B5EF4-FFF2-40B4-BE49-F238E27FC236}">
                <a16:creationId xmlns:a16="http://schemas.microsoft.com/office/drawing/2014/main" xmlns="" id="{1C2946DE-B63B-47B7-A340-53C4004FD80E}"/>
              </a:ext>
            </a:extLst>
          </p:cNvPr>
          <p:cNvSpPr/>
          <p:nvPr/>
        </p:nvSpPr>
        <p:spPr>
          <a:xfrm rot="10800000" flipH="1">
            <a:off x="6120941" y="5348236"/>
            <a:ext cx="778044" cy="58573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773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(2)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Utilisation de </a:t>
            </a:r>
            <a:r>
              <a:rPr lang="fr-FR" dirty="0" err="1"/>
              <a:t>Roxygen</a:t>
            </a:r>
            <a:endParaRPr lang="fr-FR" dirty="0"/>
          </a:p>
          <a:p>
            <a:pPr lvl="1"/>
            <a:r>
              <a:rPr lang="fr-FR" dirty="0"/>
              <a:t>@export permet de définir les fonctions visibles par l’utilisateur</a:t>
            </a:r>
          </a:p>
          <a:p>
            <a:pPr lvl="1"/>
            <a:r>
              <a:rPr lang="fr-FR" dirty="0"/>
              <a:t>Distinction fonctions internes et externes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ADA255CC-1104-4EC7-B96A-6C89DF366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338" y="3096322"/>
            <a:ext cx="8668753" cy="2301649"/>
          </a:xfrm>
          <a:prstGeom prst="rect">
            <a:avLst/>
          </a:prstGeom>
        </p:spPr>
      </p:pic>
      <p:sp>
        <p:nvSpPr>
          <p:cNvPr id="10" name="Flèche : virage 9">
            <a:extLst>
              <a:ext uri="{FF2B5EF4-FFF2-40B4-BE49-F238E27FC236}">
                <a16:creationId xmlns:a16="http://schemas.microsoft.com/office/drawing/2014/main" xmlns="" id="{448B32F1-4443-4BEF-BED0-AF73FE9BD7CD}"/>
              </a:ext>
            </a:extLst>
          </p:cNvPr>
          <p:cNvSpPr/>
          <p:nvPr/>
        </p:nvSpPr>
        <p:spPr>
          <a:xfrm rot="10800000" flipH="1">
            <a:off x="4215563" y="5531111"/>
            <a:ext cx="778044" cy="58573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3FDEA328-C528-48AB-9F20-755D91D84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520" y="5741721"/>
            <a:ext cx="44862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40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(3)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Dénomination explicite des fonctions </a:t>
            </a:r>
            <a:r>
              <a:rPr lang="fr-FR" dirty="0" err="1"/>
              <a:t>Verbe_Objet</a:t>
            </a:r>
            <a:endParaRPr lang="fr-FR" dirty="0"/>
          </a:p>
          <a:p>
            <a:pPr lvl="1"/>
            <a:r>
              <a:rPr lang="fr-FR" dirty="0" err="1"/>
              <a:t>microsim_depenses</a:t>
            </a:r>
            <a:endParaRPr lang="fr-FR" dirty="0"/>
          </a:p>
          <a:p>
            <a:pPr lvl="1"/>
            <a:r>
              <a:rPr lang="fr-FR" dirty="0" err="1"/>
              <a:t>select_bascule</a:t>
            </a:r>
            <a:endParaRPr lang="fr-FR" dirty="0"/>
          </a:p>
          <a:p>
            <a:r>
              <a:rPr lang="fr-FR" dirty="0"/>
              <a:t>Uniformisation des noms de variables </a:t>
            </a:r>
            <a:r>
              <a:rPr lang="fr-FR" dirty="0" err="1"/>
              <a:t>Nom_Type</a:t>
            </a:r>
            <a:endParaRPr lang="fr-FR" dirty="0"/>
          </a:p>
          <a:p>
            <a:pPr lvl="1"/>
            <a:r>
              <a:rPr lang="fr-FR" dirty="0" err="1"/>
              <a:t>menage_df</a:t>
            </a:r>
            <a:endParaRPr lang="fr-FR" dirty="0"/>
          </a:p>
          <a:p>
            <a:pPr lvl="1"/>
            <a:r>
              <a:rPr lang="fr-FR" dirty="0" err="1"/>
              <a:t>ener_vec</a:t>
            </a:r>
            <a:endParaRPr lang="fr-FR" dirty="0"/>
          </a:p>
          <a:p>
            <a:r>
              <a:rPr lang="fr-FR" dirty="0"/>
              <a:t>Dénomination des noms de fichiers .R</a:t>
            </a:r>
          </a:p>
          <a:p>
            <a:endParaRPr lang="fr-FR" dirty="0"/>
          </a:p>
          <a:p>
            <a:pPr lvl="1"/>
            <a:endParaRPr lang="fr-FR" dirty="0"/>
          </a:p>
          <a:p>
            <a:pPr marL="530352" lvl="1" indent="0">
              <a:buNone/>
            </a:pPr>
            <a:r>
              <a:rPr lang="fr-FR" dirty="0"/>
              <a:t>	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42652673-4BC0-4B5D-B6ED-1854AF05F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4189998"/>
            <a:ext cx="62579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60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(4)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>
            <a:normAutofit/>
          </a:bodyPr>
          <a:lstStyle/>
          <a:p>
            <a:r>
              <a:rPr lang="fr-FR" dirty="0"/>
              <a:t>Le mieux est l’ennemi du bien</a:t>
            </a:r>
          </a:p>
          <a:p>
            <a:pPr lvl="1"/>
            <a:r>
              <a:rPr lang="fr-FR" dirty="0"/>
              <a:t>CRAN est très rigide</a:t>
            </a:r>
          </a:p>
          <a:p>
            <a:pPr lvl="1"/>
            <a:r>
              <a:rPr lang="fr-FR" dirty="0"/>
              <a:t>Si pas d’objectif de partage ‘large’ sur CRAN, pas de besoin de se plier aux contraintes de </a:t>
            </a:r>
          </a:p>
          <a:p>
            <a:pPr lvl="2"/>
            <a:r>
              <a:rPr lang="fr-FR" dirty="0"/>
              <a:t>Nom</a:t>
            </a:r>
          </a:p>
          <a:p>
            <a:pPr lvl="2"/>
            <a:r>
              <a:rPr lang="fr-FR" dirty="0"/>
              <a:t>Format</a:t>
            </a:r>
          </a:p>
          <a:p>
            <a:pPr lvl="2"/>
            <a:r>
              <a:rPr lang="fr-FR" dirty="0"/>
              <a:t>Déclaration des </a:t>
            </a:r>
            <a:r>
              <a:rPr lang="fr-FR" dirty="0" err="1"/>
              <a:t>libraries</a:t>
            </a:r>
            <a:endParaRPr lang="fr-FR" dirty="0"/>
          </a:p>
          <a:p>
            <a:r>
              <a:rPr lang="fr-FR" dirty="0"/>
              <a:t>Définir clairement l’objectif de partage (single user, labo, CRAN…) aussi tôt que possible pour assurer la cohérence</a:t>
            </a:r>
          </a:p>
          <a:p>
            <a:r>
              <a:rPr lang="fr-FR" dirty="0"/>
              <a:t>Définir le niveau de documentation, d’export, de data, en fonction de la cible de l’utilisateur</a:t>
            </a:r>
          </a:p>
          <a:p>
            <a:pPr marL="530352" lvl="1" indent="0">
              <a:buNone/>
            </a:pPr>
            <a:r>
              <a:rPr lang="fr-FR" dirty="0"/>
              <a:t>	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0571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(5)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Utilisation de fonctions ‘Launch’</a:t>
            </a:r>
          </a:p>
          <a:p>
            <a:r>
              <a:rPr lang="fr-FR" dirty="0"/>
              <a:t>Dans Matisse : 3 niveaux :</a:t>
            </a:r>
          </a:p>
          <a:p>
            <a:pPr lvl="1"/>
            <a:r>
              <a:rPr lang="fr-FR" dirty="0"/>
              <a:t>Fonction mère : </a:t>
            </a:r>
            <a:r>
              <a:rPr lang="fr-FR" dirty="0" err="1"/>
              <a:t>launch_Matisse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marL="530352" lvl="1" indent="0">
              <a:buNone/>
            </a:pPr>
            <a:r>
              <a:rPr lang="fr-FR" dirty="0"/>
              <a:t>	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DEB514A-D94B-480A-ADB1-AC3FE43B4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676525"/>
            <a:ext cx="85248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8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(5)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Utilisation de fonctions ‘Launch’</a:t>
            </a:r>
          </a:p>
          <a:p>
            <a:r>
              <a:rPr lang="fr-FR" dirty="0"/>
              <a:t>Dans Matisse : 3 niveaux :</a:t>
            </a:r>
          </a:p>
          <a:p>
            <a:pPr lvl="1"/>
            <a:r>
              <a:rPr lang="fr-FR" dirty="0"/>
              <a:t>Fonction fille-mère : </a:t>
            </a:r>
            <a:r>
              <a:rPr lang="fr-FR" dirty="0" err="1"/>
              <a:t>format_menage_data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marL="530352" lvl="1" indent="0">
              <a:buNone/>
            </a:pPr>
            <a:r>
              <a:rPr lang="fr-FR" dirty="0"/>
              <a:t>	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4A9FE38C-0E2D-4E63-99CF-83AEF2AF2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026" y="2662989"/>
            <a:ext cx="8136902" cy="401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83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 fontScale="90000"/>
          </a:bodyPr>
          <a:lstStyle/>
          <a:p>
            <a:r>
              <a:rPr lang="fr-FR" dirty="0"/>
              <a:t>Penser son package – Leçons apprises (5)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Utilisation de fonctions ‘Launch’</a:t>
            </a:r>
          </a:p>
          <a:p>
            <a:r>
              <a:rPr lang="fr-FR" dirty="0"/>
              <a:t>Dans Matisse : 3 niveaux :</a:t>
            </a:r>
          </a:p>
          <a:p>
            <a:pPr lvl="1"/>
            <a:r>
              <a:rPr lang="fr-FR" dirty="0"/>
              <a:t>Fonction fille : </a:t>
            </a:r>
            <a:r>
              <a:rPr lang="fr-FR" dirty="0" err="1"/>
              <a:t>format_BDF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marL="530352" lvl="1" indent="0">
              <a:buNone/>
            </a:pPr>
            <a:r>
              <a:rPr lang="fr-FR" dirty="0"/>
              <a:t>	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CB684DB-0B3C-4157-B202-B743E3395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001" y="2743200"/>
            <a:ext cx="74866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15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C0998D8-5BF3-4573-BB1C-04341635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9968"/>
          </a:xfrm>
        </p:spPr>
        <p:txBody>
          <a:bodyPr>
            <a:normAutofit/>
          </a:bodyPr>
          <a:lstStyle/>
          <a:p>
            <a:r>
              <a:rPr lang="fr-FR" dirty="0"/>
              <a:t>Questions libres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C325118-6341-4270-8639-85236E69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5768"/>
            <a:ext cx="9601200" cy="4431632"/>
          </a:xfrm>
        </p:spPr>
        <p:txBody>
          <a:bodyPr/>
          <a:lstStyle/>
          <a:p>
            <a:r>
              <a:rPr lang="fr-FR" dirty="0"/>
              <a:t>C’est à vous!</a:t>
            </a:r>
          </a:p>
          <a:p>
            <a:pPr lvl="1"/>
            <a:endParaRPr lang="fr-FR" dirty="0"/>
          </a:p>
          <a:p>
            <a:pPr marL="530352" lvl="1" indent="0">
              <a:buNone/>
            </a:pPr>
            <a:r>
              <a:rPr lang="fr-FR" dirty="0"/>
              <a:t>	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3481284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Cadrage</Template>
  <TotalTime>172</TotalTime>
  <Words>963</Words>
  <Application>Microsoft Office PowerPoint</Application>
  <PresentationFormat>Personnalisé</PresentationFormat>
  <Paragraphs>212</Paragraphs>
  <Slides>25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6" baseType="lpstr">
      <vt:lpstr>Cadrage</vt:lpstr>
      <vt:lpstr>Matisse-CIRED Un package R</vt:lpstr>
      <vt:lpstr>Matisse CIRED</vt:lpstr>
      <vt:lpstr>Matisse c’est quoi? </vt:lpstr>
      <vt:lpstr>Matisse c’est quoi? – Code R legacy </vt:lpstr>
      <vt:lpstr>Pourquoi un package ? </vt:lpstr>
      <vt:lpstr>Pourquoi un package ? - Script  </vt:lpstr>
      <vt:lpstr>Pourquoi un package ? - Package  </vt:lpstr>
      <vt:lpstr>Construire son package - Express</vt:lpstr>
      <vt:lpstr>Construire son package – Structure</vt:lpstr>
      <vt:lpstr>Construire son package – Structure</vt:lpstr>
      <vt:lpstr>Construire son package – Structure</vt:lpstr>
      <vt:lpstr>Construire son package – Structure</vt:lpstr>
      <vt:lpstr>Construire son package – Structure</vt:lpstr>
      <vt:lpstr>Construire son package - Attention</vt:lpstr>
      <vt:lpstr>Construire son package - Ressources</vt:lpstr>
      <vt:lpstr>Penser son package – Leçons apprises (1) </vt:lpstr>
      <vt:lpstr>Penser son package – Leçons apprises (1) </vt:lpstr>
      <vt:lpstr>Penser son package – Leçons apprises (2) </vt:lpstr>
      <vt:lpstr>Penser son package – Leçons apprises (2) </vt:lpstr>
      <vt:lpstr>Penser son package – Leçons apprises (3) </vt:lpstr>
      <vt:lpstr>Penser son package – Leçons apprises (4) </vt:lpstr>
      <vt:lpstr>Penser son package – Leçons apprises (5) </vt:lpstr>
      <vt:lpstr>Penser son package – Leçons apprises (5) </vt:lpstr>
      <vt:lpstr>Penser son package – Leçons apprises (5) </vt:lpstr>
      <vt:lpstr>Questions libres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Matisse-CIRED Un package R</dc:title>
  <dc:creator>Matthieu Petiteville</dc:creator>
  <cp:lastModifiedBy>Zardoz</cp:lastModifiedBy>
  <cp:revision>4</cp:revision>
  <dcterms:created xsi:type="dcterms:W3CDTF">2022-03-07T09:03:01Z</dcterms:created>
  <dcterms:modified xsi:type="dcterms:W3CDTF">2022-03-08T15:17:38Z</dcterms:modified>
</cp:coreProperties>
</file>