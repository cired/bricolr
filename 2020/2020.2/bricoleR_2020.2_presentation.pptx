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1"/>
  </p:notesMasterIdLst>
  <p:handoutMasterIdLst>
    <p:handoutMasterId r:id="rId12"/>
  </p:handoutMasterIdLst>
  <p:sldIdLst>
    <p:sldId id="343" r:id="rId2"/>
    <p:sldId id="344" r:id="rId3"/>
    <p:sldId id="345" r:id="rId4"/>
    <p:sldId id="346" r:id="rId5"/>
    <p:sldId id="347" r:id="rId6"/>
    <p:sldId id="348" r:id="rId7"/>
    <p:sldId id="349" r:id="rId8"/>
    <p:sldId id="350" r:id="rId9"/>
    <p:sldId id="351" r:id="rId10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A4B"/>
    <a:srgbClr val="0F2847"/>
    <a:srgbClr val="133258"/>
    <a:srgbClr val="183D6A"/>
    <a:srgbClr val="252C4E"/>
    <a:srgbClr val="392C4A"/>
    <a:srgbClr val="322741"/>
    <a:srgbClr val="513F68"/>
    <a:srgbClr val="323B68"/>
    <a:srgbClr val="0014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8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fld id="{50579B90-7053-474F-9C72-B32CC7F707E8}" type="datetime1">
              <a:rPr lang="fr-FR"/>
              <a:pPr>
                <a:defRPr/>
              </a:pPr>
              <a:t>29/04/2020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fld id="{449AC310-9982-E943-83AE-45DAEB307FA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658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fld id="{F404ED14-048A-A94E-B854-BEB18C4213A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12800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5362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ヒラギノ角ゴ Pro W3" charset="0"/>
              <a:cs typeface="ヒラギノ角ゴ Pro W3" charset="0"/>
            </a:endParaRPr>
          </a:p>
        </p:txBody>
      </p:sp>
      <p:sp>
        <p:nvSpPr>
          <p:cNvPr id="15363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C7823D7-EC64-9444-B25A-0B72DA5BE37E}" type="slidenum">
              <a:rPr lang="fr-FR" sz="1200"/>
              <a:pPr eaLnBrk="1" hangingPunct="1"/>
              <a:t>1</a:t>
            </a:fld>
            <a:endParaRPr lang="fr-FR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Basculer</a:t>
            </a:r>
            <a:r>
              <a:rPr lang="fr-FR" baseline="0" dirty="0" smtClean="0"/>
              <a:t> sur la fenêtre </a:t>
            </a:r>
            <a:r>
              <a:rPr lang="fr-FR" baseline="0" dirty="0" err="1" smtClean="0"/>
              <a:t>Rstudio</a:t>
            </a:r>
            <a:r>
              <a:rPr lang="fr-FR" baseline="0" dirty="0" smtClean="0"/>
              <a:t> de la session à la fin </a:t>
            </a:r>
            <a:r>
              <a:rPr lang="fr-FR" baseline="0" smtClean="0"/>
              <a:t>de la seconde ligne.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04ED14-048A-A94E-B854-BEB18C4213AB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7924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091321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182968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10316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2877" y="286785"/>
            <a:ext cx="8616612" cy="7969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96536"/>
            <a:ext cx="8229600" cy="442118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cxnSp>
        <p:nvCxnSpPr>
          <p:cNvPr id="6" name="Connecteur droit 5"/>
          <p:cNvCxnSpPr/>
          <p:nvPr userDrawn="1"/>
        </p:nvCxnSpPr>
        <p:spPr>
          <a:xfrm flipV="1">
            <a:off x="364912" y="1131469"/>
            <a:ext cx="8460000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0F2A4B"/>
                </a:gs>
                <a:gs pos="100000">
                  <a:srgbClr val="0F2A4B"/>
                </a:gs>
                <a:gs pos="50000">
                  <a:schemeClr val="tx1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63832832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351760943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496536"/>
            <a:ext cx="4038600" cy="44211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496536"/>
            <a:ext cx="4038600" cy="44211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272877" y="286785"/>
            <a:ext cx="8616612" cy="7969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cxnSp>
        <p:nvCxnSpPr>
          <p:cNvPr id="10" name="Connecteur droit 9"/>
          <p:cNvCxnSpPr/>
          <p:nvPr userDrawn="1"/>
        </p:nvCxnSpPr>
        <p:spPr>
          <a:xfrm flipV="1">
            <a:off x="364912" y="1131469"/>
            <a:ext cx="8460000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0F2A4B"/>
                </a:gs>
                <a:gs pos="100000">
                  <a:srgbClr val="0F2A4B"/>
                </a:gs>
                <a:gs pos="50000">
                  <a:schemeClr val="tx1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151021762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9" name="Rectangle 8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421567114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272877" y="286785"/>
            <a:ext cx="8616612" cy="7969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cxnSp>
        <p:nvCxnSpPr>
          <p:cNvPr id="8" name="Connecteur droit 7"/>
          <p:cNvCxnSpPr/>
          <p:nvPr userDrawn="1"/>
        </p:nvCxnSpPr>
        <p:spPr>
          <a:xfrm flipV="1">
            <a:off x="364912" y="1131469"/>
            <a:ext cx="8460000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0F2A4B"/>
                </a:gs>
                <a:gs pos="100000">
                  <a:srgbClr val="0F2A4B"/>
                </a:gs>
                <a:gs pos="50000">
                  <a:schemeClr val="tx1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61080833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356215822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300923460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213193663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Rectangle 5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252628594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620713"/>
            <a:ext cx="2057400" cy="540067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620713"/>
            <a:ext cx="6019800" cy="540067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Rectangle 5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26224189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F2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442913"/>
            <a:ext cx="8616950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</a:t>
            </a:r>
            <a:r>
              <a:rPr lang="fr-FR" dirty="0" smtClean="0"/>
              <a:t>modifier </a:t>
            </a:r>
            <a:r>
              <a:rPr lang="fr-FR" dirty="0"/>
              <a:t>le style du titre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2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6" name="Connecteur droit 5"/>
          <p:cNvCxnSpPr/>
          <p:nvPr/>
        </p:nvCxnSpPr>
        <p:spPr>
          <a:xfrm flipV="1">
            <a:off x="364912" y="6197318"/>
            <a:ext cx="8460000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0F2A4B"/>
                </a:gs>
                <a:gs pos="100000">
                  <a:srgbClr val="0F2A4B"/>
                </a:gs>
                <a:gs pos="5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014" r:id="rId5"/>
    <p:sldLayoutId id="2147484015" r:id="rId6"/>
    <p:sldLayoutId id="2147484016" r:id="rId7"/>
    <p:sldLayoutId id="2147484017" r:id="rId8"/>
    <p:sldLayoutId id="2147484018" r:id="rId9"/>
    <p:sldLayoutId id="2147484019" r:id="rId10"/>
    <p:sldLayoutId id="2147484020" r:id="rId11"/>
  </p:sldLayoutIdLst>
  <p:transition spd="slow">
    <p:fade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cap="small">
          <a:solidFill>
            <a:schemeClr val="tx1"/>
          </a:solidFill>
          <a:latin typeface="Optima"/>
          <a:ea typeface="ヒラギノ角ゴ Pro W3" charset="-128"/>
          <a:cs typeface="Optima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charset="0"/>
          <a:ea typeface="ヒラギノ角ゴ Pro W3" charset="-128"/>
          <a:cs typeface="ヒラギノ角ゴ Pro W3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charset="0"/>
          <a:ea typeface="ヒラギノ角ゴ Pro W3" charset="-128"/>
          <a:cs typeface="ヒラギノ角ゴ Pro W3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charset="0"/>
          <a:ea typeface="ヒラギノ角ゴ Pro W3" charset="-128"/>
          <a:cs typeface="ヒラギノ角ゴ Pro W3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charset="0"/>
          <a:ea typeface="ヒラギノ角ゴ Pro W3" charset="-128"/>
          <a:cs typeface="ヒラギノ角ゴ Pro W3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Optima"/>
          <a:ea typeface="ヒラギノ角ゴ Pro W3" charset="-128"/>
          <a:cs typeface="Optima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▪"/>
        <a:defRPr sz="2000">
          <a:solidFill>
            <a:schemeClr val="tx1"/>
          </a:solidFill>
          <a:latin typeface="Optima"/>
          <a:ea typeface="ヒラギノ角ゴ Pro W3" charset="-128"/>
          <a:cs typeface="Optim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Optima"/>
          <a:ea typeface="ヒラギノ角ゴ Pro W3" charset="-128"/>
          <a:cs typeface="Optim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Optima"/>
          <a:ea typeface="ヒラギノ角ゴ Pro W3" charset="-128"/>
          <a:cs typeface="Optim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Optima"/>
          <a:ea typeface="ヒラギノ角ゴ Pro W3" charset="-128"/>
          <a:cs typeface="Optim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ヒラギノ角ゴ Pro W3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ヒラギノ角ゴ Pro W3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ヒラギノ角ゴ Pro W3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ヒラギノ角ゴ Pro W3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ganimate.com/reference/index.html" TargetMode="External"/><Relationship Id="rId2" Type="http://schemas.openxmlformats.org/officeDocument/2006/relationships/hyperlink" Target="https://gganimate.com/articles/gganimate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thomasp85/gganimate" TargetMode="External"/><Relationship Id="rId4" Type="http://schemas.openxmlformats.org/officeDocument/2006/relationships/hyperlink" Target="https://www.data-imaginist.com/2019/gganimate-has-transitioned-to-a-state-of-release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r-statistics.co/Top50-Ggplot2-Visualizations-MasterList-R-Code.html" TargetMode="External"/><Relationship Id="rId3" Type="http://schemas.openxmlformats.org/officeDocument/2006/relationships/hyperlink" Target="https://github.com/ropenscilabs/learngganimate" TargetMode="External"/><Relationship Id="rId7" Type="http://schemas.openxmlformats.org/officeDocument/2006/relationships/hyperlink" Target="https://gganimate.com/reference/index.html" TargetMode="External"/><Relationship Id="rId2" Type="http://schemas.openxmlformats.org/officeDocument/2006/relationships/hyperlink" Target="https://twitter.com/hashtag/gganimat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ganimate.com/articles/gganimate.html" TargetMode="External"/><Relationship Id="rId5" Type="http://schemas.openxmlformats.org/officeDocument/2006/relationships/hyperlink" Target="https://github.com/thomasp85/gganimate" TargetMode="External"/><Relationship Id="rId4" Type="http://schemas.openxmlformats.org/officeDocument/2006/relationships/hyperlink" Target="https://www.datanovia.com/en/blog/gganimate-how-to-create-plots-with-beautiful-animation-in-r/" TargetMode="External"/><Relationship Id="rId9" Type="http://schemas.openxmlformats.org/officeDocument/2006/relationships/hyperlink" Target="https://www.data-imaginist.com/2019/gganimate-has-transitioned-to-a-state-of-releas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Logo_CIRE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5297" y="541503"/>
            <a:ext cx="885547" cy="94561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9219" y="525938"/>
            <a:ext cx="987733" cy="987733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957642" y="2727794"/>
            <a:ext cx="724655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latin typeface="Optima"/>
                <a:ea typeface="ヒラギノ角ゴ Pro W3" charset="0"/>
                <a:cs typeface="Optima"/>
              </a:rPr>
              <a:t>Graphiques</a:t>
            </a:r>
            <a:r>
              <a:rPr lang="en-US" sz="2800" dirty="0" smtClean="0">
                <a:latin typeface="Optima"/>
                <a:ea typeface="ヒラギノ角ゴ Pro W3" charset="0"/>
                <a:cs typeface="Optima"/>
              </a:rPr>
              <a:t> </a:t>
            </a:r>
            <a:r>
              <a:rPr lang="en-US" sz="2800" dirty="0" err="1" smtClean="0">
                <a:latin typeface="Optima"/>
                <a:ea typeface="ヒラギノ角ゴ Pro W3" charset="0"/>
                <a:cs typeface="Optima"/>
              </a:rPr>
              <a:t>animés</a:t>
            </a:r>
            <a:r>
              <a:rPr lang="en-US" sz="2800" dirty="0" smtClean="0">
                <a:latin typeface="Optima"/>
                <a:ea typeface="ヒラギノ角ゴ Pro W3" charset="0"/>
                <a:cs typeface="Optima"/>
              </a:rPr>
              <a:t> avec </a:t>
            </a:r>
            <a:r>
              <a:rPr lang="en-US" sz="2800" dirty="0" err="1" smtClean="0">
                <a:latin typeface="Optima"/>
                <a:ea typeface="ヒラギノ角ゴ Pro W3" charset="0"/>
                <a:cs typeface="Optima"/>
              </a:rPr>
              <a:t>gganimate</a:t>
            </a:r>
            <a:r>
              <a:rPr lang="en-US" sz="2800" dirty="0" smtClean="0">
                <a:latin typeface="Optima"/>
                <a:ea typeface="ヒラギノ角ゴ Pro W3" charset="0"/>
                <a:cs typeface="Optima"/>
              </a:rPr>
              <a:t> </a:t>
            </a:r>
          </a:p>
          <a:p>
            <a:r>
              <a:rPr lang="en-US" sz="2800" dirty="0" smtClean="0">
                <a:latin typeface="Optima"/>
                <a:ea typeface="ヒラギノ角ゴ Pro W3" charset="0"/>
                <a:cs typeface="Optima"/>
              </a:rPr>
              <a:t>Sous ggplot2</a:t>
            </a:r>
          </a:p>
          <a:p>
            <a:pPr>
              <a:lnSpc>
                <a:spcPct val="50000"/>
              </a:lnSpc>
            </a:pPr>
            <a:endParaRPr lang="en-US" sz="2000" dirty="0" smtClean="0">
              <a:latin typeface="Optima"/>
              <a:ea typeface="ヒラギノ角ゴ Pro W3" charset="0"/>
              <a:cs typeface="Optima"/>
            </a:endParaRPr>
          </a:p>
          <a:p>
            <a:r>
              <a:rPr lang="en-US" sz="2300" dirty="0" smtClean="0">
                <a:latin typeface="Optima"/>
                <a:ea typeface="ヒラギノ角ゴ Pro W3" charset="0"/>
                <a:cs typeface="Optima"/>
              </a:rPr>
              <a:t>Séance </a:t>
            </a:r>
            <a:r>
              <a:rPr lang="en-US" sz="2300" dirty="0" err="1" smtClean="0">
                <a:latin typeface="Optima"/>
                <a:ea typeface="ヒラギノ角ゴ Pro W3" charset="0"/>
                <a:cs typeface="Optima"/>
              </a:rPr>
              <a:t>bricole’R</a:t>
            </a:r>
            <a:r>
              <a:rPr lang="en-US" sz="2300" dirty="0" smtClean="0">
                <a:latin typeface="Optima"/>
                <a:ea typeface="ヒラギノ角ゴ Pro W3" charset="0"/>
                <a:cs typeface="Optima"/>
              </a:rPr>
              <a:t> 2020.2 | internet, 30 </a:t>
            </a:r>
            <a:r>
              <a:rPr lang="en-US" sz="2300" dirty="0" err="1" smtClean="0">
                <a:latin typeface="Optima"/>
                <a:ea typeface="ヒラギノ角ゴ Pro W3" charset="0"/>
                <a:cs typeface="Optima"/>
              </a:rPr>
              <a:t>avril</a:t>
            </a:r>
            <a:r>
              <a:rPr lang="en-US" sz="2300" dirty="0" smtClean="0">
                <a:latin typeface="Optima"/>
                <a:ea typeface="ヒラギノ角ゴ Pro W3" charset="0"/>
                <a:cs typeface="Optima"/>
              </a:rPr>
              <a:t> 2020</a:t>
            </a:r>
          </a:p>
          <a:p>
            <a:pPr>
              <a:lnSpc>
                <a:spcPct val="50000"/>
              </a:lnSpc>
            </a:pPr>
            <a:endParaRPr lang="en-US" sz="2000" dirty="0" smtClean="0">
              <a:latin typeface="Optima"/>
              <a:ea typeface="ヒラギノ角ゴ Pro W3" charset="0"/>
              <a:cs typeface="Optima"/>
            </a:endParaRPr>
          </a:p>
          <a:p>
            <a:r>
              <a:rPr lang="en-US" sz="1900" dirty="0" smtClean="0">
                <a:latin typeface="Optima"/>
                <a:ea typeface="ヒラギノ角ゴ Pro W3" charset="0"/>
                <a:cs typeface="Optima"/>
              </a:rPr>
              <a:t>- - -</a:t>
            </a:r>
          </a:p>
          <a:p>
            <a:pPr>
              <a:lnSpc>
                <a:spcPct val="50000"/>
              </a:lnSpc>
            </a:pPr>
            <a:endParaRPr lang="en-US" sz="1800" dirty="0" smtClean="0">
              <a:latin typeface="Optima"/>
              <a:ea typeface="ヒラギノ角ゴ Pro W3" charset="0"/>
              <a:cs typeface="Optima"/>
            </a:endParaRPr>
          </a:p>
          <a:p>
            <a:r>
              <a:rPr lang="en-US" sz="1900" dirty="0" smtClean="0">
                <a:latin typeface="Optima"/>
                <a:ea typeface="ヒラギノ角ゴ Pro W3" charset="0"/>
                <a:cs typeface="Optima"/>
              </a:rPr>
              <a:t>Franck </a:t>
            </a:r>
            <a:r>
              <a:rPr lang="en-US" sz="1900" cap="small" dirty="0" smtClean="0">
                <a:latin typeface="Optima"/>
                <a:ea typeface="ヒラギノ角ゴ Pro W3" charset="0"/>
                <a:cs typeface="Optima"/>
              </a:rPr>
              <a:t>Nadaud</a:t>
            </a:r>
            <a:r>
              <a:rPr lang="en-US" sz="1900" dirty="0" smtClean="0">
                <a:latin typeface="Optima"/>
                <a:ea typeface="ヒラギノ角ゴ Pro W3" charset="0"/>
                <a:cs typeface="Optima"/>
              </a:rPr>
              <a:t> | CNRS</a:t>
            </a:r>
            <a:r>
              <a:rPr lang="en-US" sz="1900" dirty="0">
                <a:latin typeface="Optima"/>
                <a:ea typeface="ヒラギノ角ゴ Pro W3" charset="0"/>
                <a:cs typeface="Optima"/>
              </a:rPr>
              <a:t>-</a:t>
            </a:r>
            <a:r>
              <a:rPr lang="en-US" sz="1900" dirty="0" smtClean="0">
                <a:latin typeface="Optima"/>
                <a:ea typeface="ヒラギノ角ゴ Pro W3" charset="0"/>
                <a:cs typeface="Optima"/>
              </a:rPr>
              <a:t>CIRED Paris</a:t>
            </a:r>
          </a:p>
        </p:txBody>
      </p:sp>
    </p:spTree>
    <p:extLst>
      <p:ext uri="{BB962C8B-B14F-4D97-AF65-F5344CB8AC3E}">
        <p14:creationId xmlns:p14="http://schemas.microsoft.com/office/powerpoint/2010/main" val="239336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plan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Introduction</a:t>
            </a:r>
          </a:p>
          <a:p>
            <a:r>
              <a:rPr lang="fr-FR" dirty="0" smtClean="0"/>
              <a:t>Présentation de </a:t>
            </a:r>
            <a:r>
              <a:rPr lang="fr-FR" dirty="0" err="1" smtClean="0"/>
              <a:t>gganimate</a:t>
            </a:r>
            <a:endParaRPr lang="fr-FR" dirty="0" smtClean="0"/>
          </a:p>
          <a:p>
            <a:r>
              <a:rPr lang="fr-FR" dirty="0" smtClean="0"/>
              <a:t>Exemples commentés</a:t>
            </a:r>
          </a:p>
          <a:p>
            <a:r>
              <a:rPr lang="fr-FR" dirty="0" smtClean="0"/>
              <a:t>Discussion</a:t>
            </a:r>
          </a:p>
          <a:p>
            <a:r>
              <a:rPr lang="fr-FR" dirty="0" smtClean="0"/>
              <a:t>Liens et références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6657882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55939"/>
            <a:ext cx="8229600" cy="5055079"/>
          </a:xfrm>
        </p:spPr>
        <p:txBody>
          <a:bodyPr/>
          <a:lstStyle/>
          <a:p>
            <a:r>
              <a:rPr lang="fr-FR" dirty="0" smtClean="0"/>
              <a:t>Les graphiques </a:t>
            </a:r>
            <a:r>
              <a:rPr lang="fr-FR" dirty="0" err="1" smtClean="0"/>
              <a:t>ggplots</a:t>
            </a:r>
            <a:r>
              <a:rPr lang="fr-FR" dirty="0" smtClean="0"/>
              <a:t> sont parfois difficiles à lires quand bien même leur finition peut être savamment optimisée</a:t>
            </a:r>
          </a:p>
          <a:p>
            <a:r>
              <a:rPr lang="fr-FR" dirty="0" smtClean="0"/>
              <a:t>On rencontre fréquemment des données qui décrivent des formes d’évolutions qu’elles se déroulent dans le temps ou d’autres espaces</a:t>
            </a:r>
          </a:p>
          <a:p>
            <a:r>
              <a:rPr lang="fr-FR" dirty="0" smtClean="0"/>
              <a:t>L’utilisation de galeries de graphiques statiques (</a:t>
            </a:r>
            <a:r>
              <a:rPr lang="fr-FR" dirty="0" err="1" smtClean="0"/>
              <a:t>facetting</a:t>
            </a:r>
            <a:r>
              <a:rPr lang="fr-FR" dirty="0" smtClean="0"/>
              <a:t> dans </a:t>
            </a:r>
            <a:r>
              <a:rPr lang="fr-FR" dirty="0" err="1" smtClean="0"/>
              <a:t>ggplot</a:t>
            </a:r>
            <a:r>
              <a:rPr lang="fr-FR" dirty="0" smtClean="0"/>
              <a:t>: </a:t>
            </a:r>
            <a:r>
              <a:rPr lang="fr-FR" dirty="0" err="1" smtClean="0"/>
              <a:t>facet_grid</a:t>
            </a:r>
            <a:r>
              <a:rPr lang="fr-FR" dirty="0" smtClean="0"/>
              <a:t>, </a:t>
            </a:r>
            <a:r>
              <a:rPr lang="fr-FR" dirty="0" err="1" smtClean="0"/>
              <a:t>facet_wrap</a:t>
            </a:r>
            <a:r>
              <a:rPr lang="fr-FR" dirty="0" smtClean="0"/>
              <a:t>) rencontre souvent certaines limites notamment lorsque le nombre de catégories est </a:t>
            </a:r>
            <a:r>
              <a:rPr lang="fr-FR" dirty="0" err="1" smtClean="0"/>
              <a:t>élévé</a:t>
            </a:r>
            <a:r>
              <a:rPr lang="fr-FR" dirty="0" smtClean="0"/>
              <a:t>: pays, départements, postes de dépenses… </a:t>
            </a:r>
          </a:p>
          <a:p>
            <a:r>
              <a:rPr lang="fr-FR" dirty="0" smtClean="0"/>
              <a:t>L’exploration des données dans le temps par balayage existe depuis les années 1980: grand tour, </a:t>
            </a:r>
            <a:r>
              <a:rPr lang="fr-FR" dirty="0" err="1" smtClean="0"/>
              <a:t>Ggobi</a:t>
            </a:r>
            <a:r>
              <a:rPr lang="fr-FR" dirty="0" smtClean="0"/>
              <a:t>, en fait depuis que l’infographie le permet…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0491849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Présentation de </a:t>
            </a:r>
            <a:r>
              <a:rPr lang="fr-FR" dirty="0" err="1" smtClean="0"/>
              <a:t>gganimate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16325"/>
            <a:ext cx="8229600" cy="4968815"/>
          </a:xfrm>
        </p:spPr>
        <p:txBody>
          <a:bodyPr/>
          <a:lstStyle/>
          <a:p>
            <a:r>
              <a:rPr lang="fr-FR" dirty="0" err="1" smtClean="0"/>
              <a:t>gganimate</a:t>
            </a:r>
            <a:r>
              <a:rPr lang="fr-FR" dirty="0" smtClean="0"/>
              <a:t> est un paquetage très complet qui permet d’animer des graphiques composés sous </a:t>
            </a:r>
            <a:r>
              <a:rPr lang="fr-FR" dirty="0" err="1" smtClean="0"/>
              <a:t>ggplot</a:t>
            </a:r>
            <a:r>
              <a:rPr lang="fr-FR" dirty="0" smtClean="0"/>
              <a:t>:</a:t>
            </a:r>
          </a:p>
          <a:p>
            <a:r>
              <a:rPr lang="fr-FR" dirty="0">
                <a:hlinkClick r:id="rId2"/>
              </a:rPr>
              <a:t>https://</a:t>
            </a:r>
            <a:r>
              <a:rPr lang="fr-FR" dirty="0" smtClean="0">
                <a:hlinkClick r:id="rId2"/>
              </a:rPr>
              <a:t>gganimate.com/articles/gganimate.html</a:t>
            </a:r>
            <a:endParaRPr lang="fr-FR" dirty="0" smtClean="0"/>
          </a:p>
          <a:p>
            <a:r>
              <a:rPr lang="fr-FR" dirty="0">
                <a:hlinkClick r:id="rId3"/>
              </a:rPr>
              <a:t>https://</a:t>
            </a:r>
            <a:r>
              <a:rPr lang="fr-FR" dirty="0" smtClean="0">
                <a:hlinkClick r:id="rId3"/>
              </a:rPr>
              <a:t>gganimate.com/reference/index.html</a:t>
            </a:r>
            <a:endParaRPr lang="fr-FR" dirty="0" smtClean="0"/>
          </a:p>
          <a:p>
            <a:r>
              <a:rPr lang="fr-FR" dirty="0">
                <a:hlinkClick r:id="rId4"/>
              </a:rPr>
              <a:t>https://www.data-imaginist.com/2019/gganimate-has-transitioned-to-a-state-of-release</a:t>
            </a:r>
            <a:r>
              <a:rPr lang="fr-FR" dirty="0" smtClean="0">
                <a:hlinkClick r:id="rId4"/>
              </a:rPr>
              <a:t>/</a:t>
            </a:r>
            <a:endParaRPr lang="fr-FR" dirty="0" smtClean="0"/>
          </a:p>
          <a:p>
            <a:r>
              <a:rPr lang="fr-FR" dirty="0" smtClean="0"/>
              <a:t>Excellents sites d’apprentissage très complet:</a:t>
            </a:r>
          </a:p>
          <a:p>
            <a:r>
              <a:rPr lang="fr-FR" dirty="0">
                <a:hlinkClick r:id="rId5"/>
              </a:rPr>
              <a:t>https://</a:t>
            </a:r>
            <a:r>
              <a:rPr lang="fr-FR" dirty="0" smtClean="0">
                <a:hlinkClick r:id="rId5"/>
              </a:rPr>
              <a:t>github.com/thomasp85/gganimate</a:t>
            </a:r>
            <a:endParaRPr lang="fr-FR" dirty="0" smtClean="0"/>
          </a:p>
          <a:p>
            <a:r>
              <a:rPr lang="fr-FR" dirty="0"/>
              <a:t>https://github.com/ropenscilabs/learngganimate</a:t>
            </a:r>
            <a:endParaRPr lang="fr-FR" dirty="0" smtClean="0"/>
          </a:p>
          <a:p>
            <a:endParaRPr lang="fr-FR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2102611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Exemples commentes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81819"/>
            <a:ext cx="8229600" cy="4951562"/>
          </a:xfrm>
        </p:spPr>
        <p:txBody>
          <a:bodyPr/>
          <a:lstStyle/>
          <a:p>
            <a:r>
              <a:rPr lang="fr-FR" dirty="0" smtClean="0"/>
              <a:t>Lancer au préalable </a:t>
            </a:r>
            <a:r>
              <a:rPr lang="fr-FR" dirty="0" err="1" smtClean="0"/>
              <a:t>gganimate</a:t>
            </a:r>
            <a:r>
              <a:rPr lang="fr-FR" dirty="0" smtClean="0"/>
              <a:t> avec </a:t>
            </a:r>
            <a:r>
              <a:rPr lang="fr-FR" dirty="0" err="1" smtClean="0"/>
              <a:t>tidyverse</a:t>
            </a:r>
            <a:r>
              <a:rPr lang="fr-FR" dirty="0" smtClean="0"/>
              <a:t> / ggplot2</a:t>
            </a:r>
          </a:p>
          <a:p>
            <a:r>
              <a:rPr lang="fr-FR" dirty="0" smtClean="0"/>
              <a:t>Une animation </a:t>
            </a:r>
            <a:r>
              <a:rPr lang="fr-FR" dirty="0" err="1" smtClean="0"/>
              <a:t>gganimate</a:t>
            </a:r>
            <a:r>
              <a:rPr lang="fr-FR" dirty="0" smtClean="0"/>
              <a:t> se greffe à un objet ggplot2</a:t>
            </a:r>
          </a:p>
          <a:p>
            <a:pPr marL="0" indent="0">
              <a:buNone/>
            </a:pPr>
            <a:r>
              <a:rPr lang="fr-FR" dirty="0" smtClean="0"/>
              <a:t>Prenons un graphique </a:t>
            </a:r>
            <a:r>
              <a:rPr lang="fr-FR" dirty="0" err="1" smtClean="0"/>
              <a:t>ggplot</a:t>
            </a:r>
            <a:r>
              <a:rPr lang="fr-FR" dirty="0" smtClean="0"/>
              <a:t> statique:</a:t>
            </a:r>
          </a:p>
          <a:p>
            <a:pPr marL="0" indent="0">
              <a:buNone/>
            </a:pPr>
            <a:r>
              <a:rPr lang="fr-FR" sz="1000" dirty="0"/>
              <a:t>### </a:t>
            </a:r>
            <a:r>
              <a:rPr lang="fr-FR" sz="1000" dirty="0" err="1"/>
              <a:t>EF_pc</a:t>
            </a:r>
            <a:r>
              <a:rPr lang="fr-FR" sz="1000" dirty="0"/>
              <a:t> / </a:t>
            </a:r>
            <a:r>
              <a:rPr lang="fr-FR" sz="1000" dirty="0" err="1"/>
              <a:t>PIB_pc</a:t>
            </a:r>
            <a:r>
              <a:rPr lang="fr-FR" sz="1000" dirty="0"/>
              <a:t> statique --- by model</a:t>
            </a:r>
          </a:p>
          <a:p>
            <a:pPr marL="0" indent="0">
              <a:buNone/>
            </a:pPr>
            <a:r>
              <a:rPr lang="fr-FR" sz="1000" dirty="0" err="1"/>
              <a:t>EF_pib_pc_mod</a:t>
            </a:r>
            <a:r>
              <a:rPr lang="fr-FR" sz="1000" dirty="0"/>
              <a:t> &lt;- </a:t>
            </a:r>
            <a:r>
              <a:rPr lang="fr-FR" sz="1000" dirty="0" err="1"/>
              <a:t>ggplot</a:t>
            </a:r>
            <a:r>
              <a:rPr lang="fr-FR" sz="1000" dirty="0"/>
              <a:t>(data_2050_wide) +</a:t>
            </a:r>
          </a:p>
          <a:p>
            <a:pPr marL="0" indent="0">
              <a:buNone/>
            </a:pPr>
            <a:r>
              <a:rPr lang="fr-FR" sz="1000" dirty="0"/>
              <a:t>  </a:t>
            </a:r>
            <a:r>
              <a:rPr lang="fr-FR" sz="1000" dirty="0" err="1"/>
              <a:t>aes</a:t>
            </a:r>
            <a:r>
              <a:rPr lang="fr-FR" sz="1000" dirty="0"/>
              <a:t>(x = GDP_MER/Population</a:t>
            </a:r>
            <a:r>
              <a:rPr lang="fr-FR" sz="1000" dirty="0" smtClean="0"/>
              <a:t>,</a:t>
            </a:r>
          </a:p>
          <a:p>
            <a:pPr marL="0" indent="0">
              <a:buNone/>
            </a:pPr>
            <a:r>
              <a:rPr lang="fr-FR" sz="1000" dirty="0"/>
              <a:t> </a:t>
            </a:r>
            <a:r>
              <a:rPr lang="fr-FR" sz="1000" dirty="0" smtClean="0"/>
              <a:t>       </a:t>
            </a:r>
            <a:r>
              <a:rPr lang="fr-FR" sz="1000" dirty="0"/>
              <a:t>y = </a:t>
            </a:r>
            <a:r>
              <a:rPr lang="fr-FR" sz="1000" dirty="0" err="1"/>
              <a:t>Final_Energy</a:t>
            </a:r>
            <a:r>
              <a:rPr lang="fr-FR" sz="1000" dirty="0"/>
              <a:t>/Population, </a:t>
            </a:r>
            <a:r>
              <a:rPr lang="fr-FR" sz="1000" dirty="0" err="1"/>
              <a:t>colour</a:t>
            </a:r>
            <a:r>
              <a:rPr lang="fr-FR" sz="1000" dirty="0"/>
              <a:t> = MODEL) +</a:t>
            </a:r>
          </a:p>
          <a:p>
            <a:pPr marL="0" indent="0">
              <a:buNone/>
            </a:pPr>
            <a:r>
              <a:rPr lang="fr-FR" sz="1000" dirty="0"/>
              <a:t>  </a:t>
            </a:r>
            <a:r>
              <a:rPr lang="fr-FR" sz="1000" dirty="0" err="1"/>
              <a:t>geom_point</a:t>
            </a:r>
            <a:r>
              <a:rPr lang="fr-FR" sz="1000" dirty="0"/>
              <a:t>(alpha = 0.4) +</a:t>
            </a:r>
          </a:p>
          <a:p>
            <a:pPr marL="0" indent="0">
              <a:buNone/>
            </a:pPr>
            <a:r>
              <a:rPr lang="fr-FR" sz="1000" dirty="0"/>
              <a:t>  </a:t>
            </a:r>
            <a:r>
              <a:rPr lang="fr-FR" sz="1000" dirty="0" err="1"/>
              <a:t>labs</a:t>
            </a:r>
            <a:r>
              <a:rPr lang="fr-FR" sz="1000" dirty="0"/>
              <a:t>(x = "PIB 2005 per capita",</a:t>
            </a:r>
          </a:p>
          <a:p>
            <a:pPr marL="0" indent="0">
              <a:buNone/>
            </a:pPr>
            <a:r>
              <a:rPr lang="fr-FR" sz="1000" dirty="0"/>
              <a:t>       y = "</a:t>
            </a:r>
            <a:r>
              <a:rPr lang="fr-FR" sz="1000" dirty="0" err="1"/>
              <a:t>Energie</a:t>
            </a:r>
            <a:r>
              <a:rPr lang="fr-FR" sz="1000" dirty="0"/>
              <a:t> finale per capita",</a:t>
            </a:r>
          </a:p>
          <a:p>
            <a:pPr marL="0" indent="0">
              <a:buNone/>
            </a:pPr>
            <a:r>
              <a:rPr lang="fr-FR" sz="1000" dirty="0"/>
              <a:t>       </a:t>
            </a:r>
            <a:r>
              <a:rPr lang="fr-FR" sz="1000" dirty="0" err="1"/>
              <a:t>title</a:t>
            </a:r>
            <a:r>
              <a:rPr lang="fr-FR" sz="1000" dirty="0"/>
              <a:t> = "</a:t>
            </a:r>
            <a:r>
              <a:rPr lang="fr-FR" sz="1000" dirty="0" err="1"/>
              <a:t>Energie</a:t>
            </a:r>
            <a:r>
              <a:rPr lang="fr-FR" sz="1000" dirty="0"/>
              <a:t> finale et PIB per capita SRES AR5 jusqu'à 2050",</a:t>
            </a:r>
          </a:p>
          <a:p>
            <a:pPr marL="0" indent="0">
              <a:buNone/>
            </a:pPr>
            <a:r>
              <a:rPr lang="fr-FR" sz="1000" dirty="0"/>
              <a:t>       </a:t>
            </a:r>
            <a:r>
              <a:rPr lang="fr-FR" sz="1000" dirty="0" err="1"/>
              <a:t>subtitle</a:t>
            </a:r>
            <a:r>
              <a:rPr lang="fr-FR" sz="1000" dirty="0"/>
              <a:t> = "selon le modèle", </a:t>
            </a:r>
          </a:p>
          <a:p>
            <a:pPr marL="0" indent="0">
              <a:buNone/>
            </a:pPr>
            <a:r>
              <a:rPr lang="fr-FR" sz="1000" dirty="0"/>
              <a:t>       </a:t>
            </a:r>
            <a:r>
              <a:rPr lang="fr-FR" sz="1000" dirty="0" err="1"/>
              <a:t>caption</a:t>
            </a:r>
            <a:r>
              <a:rPr lang="fr-FR" sz="1000" dirty="0"/>
              <a:t> = "Source: IPCC",</a:t>
            </a:r>
          </a:p>
          <a:p>
            <a:pPr marL="0" indent="0">
              <a:buNone/>
            </a:pPr>
            <a:r>
              <a:rPr lang="fr-FR" sz="1000" dirty="0"/>
              <a:t>       </a:t>
            </a:r>
            <a:r>
              <a:rPr lang="fr-FR" sz="1000" dirty="0" err="1"/>
              <a:t>Colour</a:t>
            </a:r>
            <a:r>
              <a:rPr lang="fr-FR" sz="1000" dirty="0"/>
              <a:t> = "Modèle")</a:t>
            </a:r>
          </a:p>
          <a:p>
            <a:pPr marL="0" indent="0">
              <a:buNone/>
            </a:pPr>
            <a:r>
              <a:rPr lang="fr-FR" sz="1000" dirty="0" err="1" smtClean="0"/>
              <a:t>EF_pib_pc_mod</a:t>
            </a:r>
            <a:endParaRPr lang="fr-FR" sz="1000" dirty="0" smtClean="0"/>
          </a:p>
          <a:p>
            <a:r>
              <a:rPr lang="fr-FR" dirty="0" smtClean="0"/>
              <a:t>Traçons le graphique en</a:t>
            </a:r>
          </a:p>
          <a:p>
            <a:pPr marL="0" indent="0">
              <a:buNone/>
            </a:pPr>
            <a:r>
              <a:rPr lang="fr-FR" dirty="0" smtClean="0"/>
              <a:t>Balayant les points selon les</a:t>
            </a:r>
          </a:p>
          <a:p>
            <a:pPr marL="0" indent="0">
              <a:buNone/>
            </a:pPr>
            <a:r>
              <a:rPr lang="fr-FR" dirty="0" smtClean="0"/>
              <a:t>modèles</a:t>
            </a:r>
            <a:endParaRPr lang="fr-F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509" y="2453054"/>
            <a:ext cx="4706386" cy="3529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5361040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Premier </a:t>
            </a:r>
            <a:r>
              <a:rPr lang="fr-FR" dirty="0" err="1" smtClean="0"/>
              <a:t>gganimate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63901" y="1164565"/>
            <a:ext cx="8867955" cy="5115465"/>
          </a:xfrm>
        </p:spPr>
        <p:txBody>
          <a:bodyPr/>
          <a:lstStyle/>
          <a:p>
            <a:r>
              <a:rPr lang="fr-FR" dirty="0" smtClean="0"/>
              <a:t>Pour cela on ajoute des commandes spécifiques à </a:t>
            </a:r>
            <a:r>
              <a:rPr lang="fr-FR" dirty="0" err="1" smtClean="0"/>
              <a:t>gganimate</a:t>
            </a:r>
            <a:r>
              <a:rPr lang="fr-FR" dirty="0" smtClean="0"/>
              <a:t> dans le code </a:t>
            </a:r>
            <a:r>
              <a:rPr lang="fr-FR" dirty="0" err="1" smtClean="0"/>
              <a:t>ggplot</a:t>
            </a:r>
            <a:r>
              <a:rPr lang="fr-FR" dirty="0" smtClean="0"/>
              <a:t> du graphique:</a:t>
            </a:r>
          </a:p>
          <a:p>
            <a:pPr marL="0" indent="0">
              <a:buNone/>
            </a:pPr>
            <a:r>
              <a:rPr lang="fr-FR" sz="900" dirty="0"/>
              <a:t>### le même graphique animé:</a:t>
            </a:r>
          </a:p>
          <a:p>
            <a:pPr marL="0" indent="0">
              <a:buNone/>
            </a:pPr>
            <a:r>
              <a:rPr lang="fr-FR" sz="900" dirty="0" err="1"/>
              <a:t>EF_pib_pc_mod_anim</a:t>
            </a:r>
            <a:r>
              <a:rPr lang="fr-FR" sz="900" dirty="0"/>
              <a:t> &lt;- </a:t>
            </a:r>
            <a:r>
              <a:rPr lang="fr-FR" sz="900" dirty="0" err="1"/>
              <a:t>ggplot</a:t>
            </a:r>
            <a:r>
              <a:rPr lang="fr-FR" sz="900" dirty="0"/>
              <a:t>(data_2050_wide) +</a:t>
            </a:r>
          </a:p>
          <a:p>
            <a:pPr marL="0" indent="0">
              <a:buNone/>
            </a:pPr>
            <a:r>
              <a:rPr lang="fr-FR" sz="900" dirty="0"/>
              <a:t>  </a:t>
            </a:r>
            <a:r>
              <a:rPr lang="fr-FR" sz="900" dirty="0" err="1"/>
              <a:t>aes</a:t>
            </a:r>
            <a:r>
              <a:rPr lang="fr-FR" sz="900" dirty="0"/>
              <a:t>(x = GDP_MER/Population, y = </a:t>
            </a:r>
            <a:r>
              <a:rPr lang="fr-FR" sz="900" dirty="0" err="1"/>
              <a:t>Final_Energy</a:t>
            </a:r>
            <a:r>
              <a:rPr lang="fr-FR" sz="900" dirty="0"/>
              <a:t>/Population, </a:t>
            </a:r>
            <a:r>
              <a:rPr lang="fr-FR" sz="900" dirty="0" err="1"/>
              <a:t>colour</a:t>
            </a:r>
            <a:r>
              <a:rPr lang="fr-FR" sz="900" dirty="0"/>
              <a:t> = MODEL) +</a:t>
            </a:r>
          </a:p>
          <a:p>
            <a:pPr marL="0" indent="0">
              <a:buNone/>
            </a:pPr>
            <a:r>
              <a:rPr lang="fr-FR" sz="900" dirty="0"/>
              <a:t>  </a:t>
            </a:r>
            <a:r>
              <a:rPr lang="fr-FR" sz="900" dirty="0" err="1"/>
              <a:t>geom_point</a:t>
            </a:r>
            <a:r>
              <a:rPr lang="fr-FR" sz="900" dirty="0"/>
              <a:t>(alpha = 0.4) +</a:t>
            </a:r>
          </a:p>
          <a:p>
            <a:pPr marL="0" indent="0">
              <a:buNone/>
            </a:pPr>
            <a:r>
              <a:rPr lang="fr-FR" sz="900" dirty="0"/>
              <a:t>  </a:t>
            </a:r>
            <a:r>
              <a:rPr lang="fr-FR" sz="900" dirty="0" err="1"/>
              <a:t>labs</a:t>
            </a:r>
            <a:r>
              <a:rPr lang="fr-FR" sz="900" dirty="0"/>
              <a:t>(x = "PIB 2005 per capita",</a:t>
            </a:r>
          </a:p>
          <a:p>
            <a:pPr marL="0" indent="0">
              <a:buNone/>
            </a:pPr>
            <a:r>
              <a:rPr lang="fr-FR" sz="900" dirty="0"/>
              <a:t>       y = "</a:t>
            </a:r>
            <a:r>
              <a:rPr lang="fr-FR" sz="900" dirty="0" err="1"/>
              <a:t>Energie</a:t>
            </a:r>
            <a:r>
              <a:rPr lang="fr-FR" sz="900" dirty="0"/>
              <a:t> finale per capita",</a:t>
            </a:r>
          </a:p>
          <a:p>
            <a:pPr marL="0" indent="0">
              <a:buNone/>
            </a:pPr>
            <a:r>
              <a:rPr lang="fr-FR" sz="900" dirty="0"/>
              <a:t>       </a:t>
            </a:r>
            <a:r>
              <a:rPr lang="fr-FR" sz="900" dirty="0" err="1"/>
              <a:t>title</a:t>
            </a:r>
            <a:r>
              <a:rPr lang="fr-FR" sz="900" dirty="0"/>
              <a:t> = "</a:t>
            </a:r>
            <a:r>
              <a:rPr lang="fr-FR" sz="900" dirty="0" err="1"/>
              <a:t>Energie</a:t>
            </a:r>
            <a:r>
              <a:rPr lang="fr-FR" sz="900" dirty="0"/>
              <a:t> finale et PIB per capita SRES AR5 jusqu'à 2050",</a:t>
            </a:r>
          </a:p>
          <a:p>
            <a:pPr marL="0" indent="0">
              <a:buNone/>
            </a:pPr>
            <a:r>
              <a:rPr lang="fr-FR" sz="900" dirty="0"/>
              <a:t>       </a:t>
            </a:r>
            <a:r>
              <a:rPr lang="fr-FR" sz="900" dirty="0" err="1"/>
              <a:t>subtitle</a:t>
            </a:r>
            <a:r>
              <a:rPr lang="fr-FR" sz="900" dirty="0"/>
              <a:t> = "selon le modèle </a:t>
            </a:r>
            <a:r>
              <a:rPr lang="fr-FR" sz="900" dirty="0">
                <a:solidFill>
                  <a:srgbClr val="FFFF00"/>
                </a:solidFill>
              </a:rPr>
              <a:t>: {</a:t>
            </a:r>
            <a:r>
              <a:rPr lang="fr-FR" sz="900" dirty="0" err="1">
                <a:solidFill>
                  <a:srgbClr val="FFFF00"/>
                </a:solidFill>
              </a:rPr>
              <a:t>closest_state</a:t>
            </a:r>
            <a:r>
              <a:rPr lang="fr-FR" sz="900" dirty="0">
                <a:solidFill>
                  <a:srgbClr val="FFFF00"/>
                </a:solidFill>
              </a:rPr>
              <a:t>}", </a:t>
            </a:r>
            <a:r>
              <a:rPr lang="fr-FR" sz="900" dirty="0" smtClean="0">
                <a:solidFill>
                  <a:srgbClr val="FFFF00"/>
                </a:solidFill>
              </a:rPr>
              <a:t> ## affichage de l’état calculé dans le cycle</a:t>
            </a:r>
            <a:endParaRPr lang="fr-FR" sz="9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fr-FR" sz="900" dirty="0"/>
              <a:t>       </a:t>
            </a:r>
            <a:r>
              <a:rPr lang="fr-FR" sz="900" dirty="0" err="1"/>
              <a:t>caption</a:t>
            </a:r>
            <a:r>
              <a:rPr lang="fr-FR" sz="900" dirty="0"/>
              <a:t> = "Source: IPCC",</a:t>
            </a:r>
          </a:p>
          <a:p>
            <a:pPr marL="0" indent="0">
              <a:buNone/>
            </a:pPr>
            <a:r>
              <a:rPr lang="fr-FR" sz="900" dirty="0"/>
              <a:t>       </a:t>
            </a:r>
            <a:r>
              <a:rPr lang="fr-FR" sz="900" dirty="0" err="1"/>
              <a:t>Colour</a:t>
            </a:r>
            <a:r>
              <a:rPr lang="fr-FR" sz="900" dirty="0"/>
              <a:t> = "Modèle") +</a:t>
            </a:r>
          </a:p>
          <a:p>
            <a:pPr marL="0" indent="0">
              <a:buNone/>
            </a:pPr>
            <a:r>
              <a:rPr lang="fr-FR" sz="900" dirty="0" err="1">
                <a:solidFill>
                  <a:srgbClr val="FFFF00"/>
                </a:solidFill>
              </a:rPr>
              <a:t>transition_states</a:t>
            </a:r>
            <a:r>
              <a:rPr lang="fr-FR" sz="900" dirty="0">
                <a:solidFill>
                  <a:srgbClr val="FFFF00"/>
                </a:solidFill>
              </a:rPr>
              <a:t>(MODEL</a:t>
            </a:r>
            <a:r>
              <a:rPr lang="fr-FR" sz="900" dirty="0" smtClean="0">
                <a:solidFill>
                  <a:srgbClr val="FFFF00"/>
                </a:solidFill>
              </a:rPr>
              <a:t>, </a:t>
            </a:r>
            <a:r>
              <a:rPr lang="fr-FR" sz="900" dirty="0" err="1" smtClean="0">
                <a:solidFill>
                  <a:srgbClr val="FFFF00"/>
                </a:solidFill>
              </a:rPr>
              <a:t>transition_length</a:t>
            </a:r>
            <a:r>
              <a:rPr lang="fr-FR" sz="900" dirty="0" smtClean="0">
                <a:solidFill>
                  <a:srgbClr val="FFFF00"/>
                </a:solidFill>
              </a:rPr>
              <a:t> </a:t>
            </a:r>
            <a:r>
              <a:rPr lang="fr-FR" sz="900" dirty="0">
                <a:solidFill>
                  <a:srgbClr val="FFFF00"/>
                </a:solidFill>
              </a:rPr>
              <a:t>= 1</a:t>
            </a:r>
            <a:r>
              <a:rPr lang="fr-FR" sz="900" dirty="0" smtClean="0">
                <a:solidFill>
                  <a:srgbClr val="FFFF00"/>
                </a:solidFill>
              </a:rPr>
              <a:t>,  </a:t>
            </a:r>
            <a:r>
              <a:rPr lang="fr-FR" sz="900" dirty="0" err="1">
                <a:solidFill>
                  <a:srgbClr val="FFFF00"/>
                </a:solidFill>
              </a:rPr>
              <a:t>state_length</a:t>
            </a:r>
            <a:r>
              <a:rPr lang="fr-FR" sz="900" dirty="0">
                <a:solidFill>
                  <a:srgbClr val="FFFF00"/>
                </a:solidFill>
              </a:rPr>
              <a:t> = 3) </a:t>
            </a:r>
            <a:r>
              <a:rPr lang="fr-FR" sz="900" dirty="0" smtClean="0">
                <a:solidFill>
                  <a:srgbClr val="FFFF00"/>
                </a:solidFill>
              </a:rPr>
              <a:t>+  # paramètres des transitions: on cycle sur la variable MODEL avec un rapport de 1/3 pour les états</a:t>
            </a:r>
            <a:endParaRPr lang="fr-FR" sz="9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fr-FR" sz="900" dirty="0">
                <a:solidFill>
                  <a:srgbClr val="FFFF00"/>
                </a:solidFill>
              </a:rPr>
              <a:t>  </a:t>
            </a:r>
            <a:r>
              <a:rPr lang="fr-FR" sz="900" dirty="0" err="1">
                <a:solidFill>
                  <a:srgbClr val="FFFF00"/>
                </a:solidFill>
              </a:rPr>
              <a:t>ease_aes</a:t>
            </a:r>
            <a:r>
              <a:rPr lang="fr-FR" sz="900" dirty="0">
                <a:solidFill>
                  <a:srgbClr val="FFFF00"/>
                </a:solidFill>
              </a:rPr>
              <a:t>('</a:t>
            </a:r>
            <a:r>
              <a:rPr lang="fr-FR" sz="900" dirty="0" err="1">
                <a:solidFill>
                  <a:srgbClr val="FFFF00"/>
                </a:solidFill>
              </a:rPr>
              <a:t>linear</a:t>
            </a:r>
            <a:r>
              <a:rPr lang="fr-FR" sz="900" dirty="0">
                <a:solidFill>
                  <a:srgbClr val="FFFF00"/>
                </a:solidFill>
              </a:rPr>
              <a:t>') </a:t>
            </a:r>
            <a:r>
              <a:rPr lang="fr-FR" sz="900" dirty="0" smtClean="0">
                <a:solidFill>
                  <a:srgbClr val="FFFF00"/>
                </a:solidFill>
              </a:rPr>
              <a:t>                                                                             # paramètre de lissage de la transition : ici linéaire entre chaque plan: sans effets particuliers</a:t>
            </a:r>
            <a:endParaRPr lang="fr-FR" sz="9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fr-FR" sz="900" dirty="0" err="1"/>
              <a:t>EF_pib_pc_mod_anim</a:t>
            </a:r>
            <a:endParaRPr lang="fr-FR" sz="900" dirty="0"/>
          </a:p>
          <a:p>
            <a:pPr marL="0" indent="0">
              <a:buNone/>
            </a:pPr>
            <a:r>
              <a:rPr lang="fr-FR" sz="900" dirty="0" err="1">
                <a:solidFill>
                  <a:srgbClr val="FFFF00"/>
                </a:solidFill>
              </a:rPr>
              <a:t>anim_save</a:t>
            </a:r>
            <a:r>
              <a:rPr lang="fr-FR" sz="900" dirty="0">
                <a:solidFill>
                  <a:srgbClr val="FFFF00"/>
                </a:solidFill>
              </a:rPr>
              <a:t>("</a:t>
            </a:r>
            <a:r>
              <a:rPr lang="fr-FR" sz="900" dirty="0" smtClean="0">
                <a:solidFill>
                  <a:srgbClr val="FFFF00"/>
                </a:solidFill>
              </a:rPr>
              <a:t>EF_pib_pc_mod_anim.gif</a:t>
            </a:r>
            <a:r>
              <a:rPr lang="fr-FR" sz="900" dirty="0">
                <a:solidFill>
                  <a:srgbClr val="FFFF00"/>
                </a:solidFill>
              </a:rPr>
              <a:t>", animation = </a:t>
            </a:r>
            <a:r>
              <a:rPr lang="fr-FR" sz="900" dirty="0" err="1">
                <a:solidFill>
                  <a:srgbClr val="FFFF00"/>
                </a:solidFill>
              </a:rPr>
              <a:t>last_animation</a:t>
            </a:r>
            <a:r>
              <a:rPr lang="fr-FR" sz="900" dirty="0" smtClean="0">
                <a:solidFill>
                  <a:srgbClr val="FFFF00"/>
                </a:solidFill>
              </a:rPr>
              <a:t>()) # </a:t>
            </a:r>
            <a:r>
              <a:rPr lang="fr-FR" sz="900" dirty="0" err="1" smtClean="0">
                <a:solidFill>
                  <a:srgbClr val="FFFF00"/>
                </a:solidFill>
              </a:rPr>
              <a:t>sauvergarde</a:t>
            </a:r>
            <a:r>
              <a:rPr lang="fr-FR" sz="900" dirty="0" smtClean="0">
                <a:solidFill>
                  <a:srgbClr val="FFFF00"/>
                </a:solidFill>
              </a:rPr>
              <a:t> en format </a:t>
            </a:r>
            <a:r>
              <a:rPr lang="fr-FR" sz="900" dirty="0" err="1" smtClean="0">
                <a:solidFill>
                  <a:srgbClr val="FFFF00"/>
                </a:solidFill>
              </a:rPr>
              <a:t>gif</a:t>
            </a:r>
            <a:r>
              <a:rPr lang="fr-FR" sz="900" dirty="0" smtClean="0">
                <a:solidFill>
                  <a:srgbClr val="FFFF00"/>
                </a:solidFill>
              </a:rPr>
              <a:t> de l’animation</a:t>
            </a:r>
          </a:p>
          <a:p>
            <a:r>
              <a:rPr lang="fr-FR" dirty="0" smtClean="0"/>
              <a:t>Le graphique s’anime trop vite dès que le nombre de catégories dépasse 10, </a:t>
            </a:r>
          </a:p>
          <a:p>
            <a:r>
              <a:rPr lang="fr-FR" dirty="0" smtClean="0"/>
              <a:t>Par défaut </a:t>
            </a:r>
            <a:r>
              <a:rPr lang="fr-FR" dirty="0" err="1" smtClean="0"/>
              <a:t>ggaminate</a:t>
            </a:r>
            <a:r>
              <a:rPr lang="fr-FR" dirty="0" smtClean="0"/>
              <a:t> distribue l’animation sur 100 cadres avec 10 cadres / seconde ce qui pour 30 modèles représente 3 modèles par seconde: il faudrait ralentir le défilement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3962379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Ralentir le </a:t>
            </a:r>
            <a:r>
              <a:rPr lang="fr-FR" dirty="0" err="1" smtClean="0"/>
              <a:t>defilement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07698"/>
            <a:ext cx="8229600" cy="4951562"/>
          </a:xfrm>
        </p:spPr>
        <p:txBody>
          <a:bodyPr/>
          <a:lstStyle/>
          <a:p>
            <a:r>
              <a:rPr lang="fr-FR" dirty="0" smtClean="0"/>
              <a:t>On peut tout simplement changer les paramètres par défauts en spécifiant localement (pour une animation données) ou globalement (pour toutes les animations d’une session):</a:t>
            </a:r>
          </a:p>
          <a:p>
            <a:pPr marL="0" indent="0">
              <a:buNone/>
            </a:pPr>
            <a:r>
              <a:rPr lang="fr-FR" sz="900" dirty="0" err="1"/>
              <a:t>EF_pib_pc_mod_anim_slow</a:t>
            </a:r>
            <a:r>
              <a:rPr lang="fr-FR" sz="900" dirty="0"/>
              <a:t> &lt;- </a:t>
            </a:r>
            <a:r>
              <a:rPr lang="fr-FR" sz="900" dirty="0" err="1"/>
              <a:t>ggplot</a:t>
            </a:r>
            <a:r>
              <a:rPr lang="fr-FR" sz="900" dirty="0"/>
              <a:t>(data_2050_wide) +</a:t>
            </a:r>
          </a:p>
          <a:p>
            <a:pPr marL="0" indent="0">
              <a:buNone/>
            </a:pPr>
            <a:r>
              <a:rPr lang="fr-FR" sz="900" dirty="0"/>
              <a:t>  </a:t>
            </a:r>
            <a:r>
              <a:rPr lang="fr-FR" sz="900" dirty="0" err="1"/>
              <a:t>aes</a:t>
            </a:r>
            <a:r>
              <a:rPr lang="fr-FR" sz="900" dirty="0"/>
              <a:t>(x = GDP_MER/Population, y = </a:t>
            </a:r>
            <a:r>
              <a:rPr lang="fr-FR" sz="900" dirty="0" err="1"/>
              <a:t>Final_Energy</a:t>
            </a:r>
            <a:r>
              <a:rPr lang="fr-FR" sz="900" dirty="0"/>
              <a:t>/Population, </a:t>
            </a:r>
            <a:r>
              <a:rPr lang="fr-FR" sz="900" dirty="0" err="1"/>
              <a:t>colour</a:t>
            </a:r>
            <a:r>
              <a:rPr lang="fr-FR" sz="900" dirty="0"/>
              <a:t> = MODEL) +</a:t>
            </a:r>
          </a:p>
          <a:p>
            <a:pPr marL="0" indent="0">
              <a:buNone/>
            </a:pPr>
            <a:r>
              <a:rPr lang="fr-FR" sz="900" dirty="0"/>
              <a:t>  </a:t>
            </a:r>
            <a:r>
              <a:rPr lang="fr-FR" sz="900" dirty="0" err="1"/>
              <a:t>geom_point</a:t>
            </a:r>
            <a:r>
              <a:rPr lang="fr-FR" sz="900" dirty="0"/>
              <a:t>(alpha = 0.4) +</a:t>
            </a:r>
          </a:p>
          <a:p>
            <a:pPr marL="0" indent="0">
              <a:buNone/>
            </a:pPr>
            <a:r>
              <a:rPr lang="fr-FR" sz="900" dirty="0"/>
              <a:t>  </a:t>
            </a:r>
            <a:r>
              <a:rPr lang="fr-FR" sz="900" dirty="0" err="1"/>
              <a:t>labs</a:t>
            </a:r>
            <a:r>
              <a:rPr lang="fr-FR" sz="900" dirty="0"/>
              <a:t>(x = "PIB 2005 per capita",</a:t>
            </a:r>
          </a:p>
          <a:p>
            <a:pPr marL="0" indent="0">
              <a:buNone/>
            </a:pPr>
            <a:r>
              <a:rPr lang="fr-FR" sz="900" dirty="0"/>
              <a:t>       y = "</a:t>
            </a:r>
            <a:r>
              <a:rPr lang="fr-FR" sz="900" dirty="0" err="1"/>
              <a:t>Energie</a:t>
            </a:r>
            <a:r>
              <a:rPr lang="fr-FR" sz="900" dirty="0"/>
              <a:t> finale per capita",</a:t>
            </a:r>
          </a:p>
          <a:p>
            <a:pPr marL="0" indent="0">
              <a:buNone/>
            </a:pPr>
            <a:r>
              <a:rPr lang="fr-FR" sz="900" dirty="0"/>
              <a:t>       </a:t>
            </a:r>
            <a:r>
              <a:rPr lang="fr-FR" sz="900" dirty="0" err="1"/>
              <a:t>title</a:t>
            </a:r>
            <a:r>
              <a:rPr lang="fr-FR" sz="900" dirty="0"/>
              <a:t> = "</a:t>
            </a:r>
            <a:r>
              <a:rPr lang="fr-FR" sz="900" dirty="0" err="1"/>
              <a:t>Energie</a:t>
            </a:r>
            <a:r>
              <a:rPr lang="fr-FR" sz="900" dirty="0"/>
              <a:t> finale et PIB per capita SRES AR5 jusqu'à 2050",</a:t>
            </a:r>
          </a:p>
          <a:p>
            <a:pPr marL="0" indent="0">
              <a:buNone/>
            </a:pPr>
            <a:r>
              <a:rPr lang="fr-FR" sz="900" dirty="0"/>
              <a:t>       </a:t>
            </a:r>
            <a:r>
              <a:rPr lang="fr-FR" sz="900" dirty="0" err="1"/>
              <a:t>subtitle</a:t>
            </a:r>
            <a:r>
              <a:rPr lang="fr-FR" sz="900" dirty="0"/>
              <a:t> = "selon le modèle : </a:t>
            </a:r>
            <a:r>
              <a:rPr lang="fr-FR" sz="900" dirty="0">
                <a:solidFill>
                  <a:srgbClr val="FFC000"/>
                </a:solidFill>
              </a:rPr>
              <a:t>{</a:t>
            </a:r>
            <a:r>
              <a:rPr lang="fr-FR" sz="900" dirty="0" err="1">
                <a:solidFill>
                  <a:srgbClr val="FFC000"/>
                </a:solidFill>
              </a:rPr>
              <a:t>closest_state</a:t>
            </a:r>
            <a:r>
              <a:rPr lang="fr-FR" sz="900" dirty="0">
                <a:solidFill>
                  <a:srgbClr val="FFC000"/>
                </a:solidFill>
              </a:rPr>
              <a:t>}</a:t>
            </a:r>
            <a:r>
              <a:rPr lang="fr-FR" sz="900" dirty="0"/>
              <a:t>", </a:t>
            </a:r>
          </a:p>
          <a:p>
            <a:pPr marL="0" indent="0">
              <a:buNone/>
            </a:pPr>
            <a:r>
              <a:rPr lang="fr-FR" sz="900" dirty="0"/>
              <a:t>       </a:t>
            </a:r>
            <a:r>
              <a:rPr lang="fr-FR" sz="900" dirty="0" err="1"/>
              <a:t>caption</a:t>
            </a:r>
            <a:r>
              <a:rPr lang="fr-FR" sz="900" dirty="0"/>
              <a:t> = "Source: IPCC",</a:t>
            </a:r>
          </a:p>
          <a:p>
            <a:pPr marL="0" indent="0">
              <a:buNone/>
            </a:pPr>
            <a:r>
              <a:rPr lang="fr-FR" sz="900" dirty="0"/>
              <a:t>       </a:t>
            </a:r>
            <a:r>
              <a:rPr lang="fr-FR" sz="900" dirty="0" err="1"/>
              <a:t>Colour</a:t>
            </a:r>
            <a:r>
              <a:rPr lang="fr-FR" sz="900" dirty="0"/>
              <a:t> = "Modèle") +</a:t>
            </a:r>
          </a:p>
          <a:p>
            <a:pPr marL="0" indent="0">
              <a:buNone/>
            </a:pPr>
            <a:r>
              <a:rPr lang="fr-FR" sz="900" dirty="0">
                <a:solidFill>
                  <a:srgbClr val="FFC000"/>
                </a:solidFill>
              </a:rPr>
              <a:t>  </a:t>
            </a:r>
            <a:r>
              <a:rPr lang="fr-FR" sz="900" dirty="0" err="1">
                <a:solidFill>
                  <a:srgbClr val="FFC000"/>
                </a:solidFill>
              </a:rPr>
              <a:t>transition_states</a:t>
            </a:r>
            <a:r>
              <a:rPr lang="fr-FR" sz="900" dirty="0">
                <a:solidFill>
                  <a:srgbClr val="FFC000"/>
                </a:solidFill>
              </a:rPr>
              <a:t>(MODEL</a:t>
            </a:r>
            <a:r>
              <a:rPr lang="fr-FR" sz="900" dirty="0" smtClean="0">
                <a:solidFill>
                  <a:srgbClr val="FFC000"/>
                </a:solidFill>
              </a:rPr>
              <a:t>,  </a:t>
            </a:r>
            <a:r>
              <a:rPr lang="fr-FR" sz="900" dirty="0" err="1">
                <a:solidFill>
                  <a:srgbClr val="FFC000"/>
                </a:solidFill>
              </a:rPr>
              <a:t>transition_length</a:t>
            </a:r>
            <a:r>
              <a:rPr lang="fr-FR" sz="900" dirty="0">
                <a:solidFill>
                  <a:srgbClr val="FFC000"/>
                </a:solidFill>
              </a:rPr>
              <a:t> = 1</a:t>
            </a:r>
            <a:r>
              <a:rPr lang="fr-FR" sz="900" dirty="0" smtClean="0">
                <a:solidFill>
                  <a:srgbClr val="FFC000"/>
                </a:solidFill>
              </a:rPr>
              <a:t>, </a:t>
            </a:r>
            <a:r>
              <a:rPr lang="fr-FR" sz="900" dirty="0" err="1" smtClean="0">
                <a:solidFill>
                  <a:srgbClr val="FFC000"/>
                </a:solidFill>
              </a:rPr>
              <a:t>state_length</a:t>
            </a:r>
            <a:r>
              <a:rPr lang="fr-FR" sz="900" dirty="0" smtClean="0">
                <a:solidFill>
                  <a:srgbClr val="FFC000"/>
                </a:solidFill>
              </a:rPr>
              <a:t> </a:t>
            </a:r>
            <a:r>
              <a:rPr lang="fr-FR" sz="900" dirty="0">
                <a:solidFill>
                  <a:srgbClr val="FFC000"/>
                </a:solidFill>
              </a:rPr>
              <a:t>= 2) +</a:t>
            </a:r>
          </a:p>
          <a:p>
            <a:pPr marL="0" indent="0">
              <a:buNone/>
            </a:pPr>
            <a:r>
              <a:rPr lang="fr-FR" sz="900" dirty="0">
                <a:solidFill>
                  <a:srgbClr val="FFC000"/>
                </a:solidFill>
              </a:rPr>
              <a:t>  </a:t>
            </a:r>
            <a:r>
              <a:rPr lang="fr-FR" sz="900" dirty="0" err="1">
                <a:solidFill>
                  <a:srgbClr val="FFC000"/>
                </a:solidFill>
              </a:rPr>
              <a:t>ease_aes</a:t>
            </a:r>
            <a:r>
              <a:rPr lang="fr-FR" sz="900" dirty="0">
                <a:solidFill>
                  <a:srgbClr val="FFC000"/>
                </a:solidFill>
              </a:rPr>
              <a:t>('</a:t>
            </a:r>
            <a:r>
              <a:rPr lang="fr-FR" sz="900" dirty="0" err="1">
                <a:solidFill>
                  <a:srgbClr val="FFC000"/>
                </a:solidFill>
              </a:rPr>
              <a:t>linear</a:t>
            </a:r>
            <a:r>
              <a:rPr lang="fr-FR" sz="900" dirty="0">
                <a:solidFill>
                  <a:srgbClr val="FFC000"/>
                </a:solidFill>
              </a:rPr>
              <a:t>') </a:t>
            </a:r>
          </a:p>
          <a:p>
            <a:pPr marL="0" indent="0">
              <a:buNone/>
            </a:pPr>
            <a:r>
              <a:rPr lang="fr-FR" sz="900" dirty="0" err="1">
                <a:solidFill>
                  <a:srgbClr val="FFC000"/>
                </a:solidFill>
              </a:rPr>
              <a:t>animate</a:t>
            </a:r>
            <a:r>
              <a:rPr lang="fr-FR" sz="900" dirty="0">
                <a:solidFill>
                  <a:srgbClr val="FFC000"/>
                </a:solidFill>
              </a:rPr>
              <a:t>(</a:t>
            </a:r>
            <a:r>
              <a:rPr lang="fr-FR" sz="900" dirty="0" err="1">
                <a:solidFill>
                  <a:srgbClr val="FFC000"/>
                </a:solidFill>
              </a:rPr>
              <a:t>EF_pib_pc_mod_anim_slow</a:t>
            </a:r>
            <a:r>
              <a:rPr lang="fr-FR" sz="900" dirty="0">
                <a:solidFill>
                  <a:srgbClr val="FFC000"/>
                </a:solidFill>
              </a:rPr>
              <a:t>, </a:t>
            </a:r>
            <a:r>
              <a:rPr lang="fr-FR" sz="900" dirty="0" err="1">
                <a:solidFill>
                  <a:srgbClr val="FFC000"/>
                </a:solidFill>
              </a:rPr>
              <a:t>nframes</a:t>
            </a:r>
            <a:r>
              <a:rPr lang="fr-FR" sz="900" dirty="0">
                <a:solidFill>
                  <a:srgbClr val="FFC000"/>
                </a:solidFill>
              </a:rPr>
              <a:t> = 300, </a:t>
            </a:r>
            <a:r>
              <a:rPr lang="fr-FR" sz="900" dirty="0" err="1">
                <a:solidFill>
                  <a:srgbClr val="FFC000"/>
                </a:solidFill>
              </a:rPr>
              <a:t>fps</a:t>
            </a:r>
            <a:r>
              <a:rPr lang="fr-FR" sz="900" dirty="0">
                <a:solidFill>
                  <a:srgbClr val="FFC000"/>
                </a:solidFill>
              </a:rPr>
              <a:t> = 20, duration = 60)</a:t>
            </a:r>
            <a:r>
              <a:rPr lang="fr-FR" sz="900" dirty="0"/>
              <a:t> # attention ! 18 minutes de temps de </a:t>
            </a:r>
            <a:r>
              <a:rPr lang="fr-FR" sz="900" dirty="0" smtClean="0"/>
              <a:t>calcul: 20 cadres x 60 secondes = 1200 cadres</a:t>
            </a:r>
            <a:endParaRPr lang="fr-FR" sz="900" dirty="0"/>
          </a:p>
          <a:p>
            <a:pPr marL="0" indent="0">
              <a:buNone/>
            </a:pPr>
            <a:r>
              <a:rPr lang="fr-FR" sz="900" dirty="0" err="1">
                <a:solidFill>
                  <a:srgbClr val="FFC000"/>
                </a:solidFill>
              </a:rPr>
              <a:t>anim_save</a:t>
            </a:r>
            <a:r>
              <a:rPr lang="fr-FR" sz="900" dirty="0">
                <a:solidFill>
                  <a:srgbClr val="FFC000"/>
                </a:solidFill>
              </a:rPr>
              <a:t>("EF_pib_pc_mod_anim_very_slow.gif", animation = </a:t>
            </a:r>
            <a:r>
              <a:rPr lang="fr-FR" sz="900" dirty="0" err="1">
                <a:solidFill>
                  <a:srgbClr val="FFC000"/>
                </a:solidFill>
              </a:rPr>
              <a:t>last_animation</a:t>
            </a:r>
            <a:r>
              <a:rPr lang="fr-FR" sz="900" dirty="0">
                <a:solidFill>
                  <a:srgbClr val="FFC000"/>
                </a:solidFill>
              </a:rPr>
              <a:t>())</a:t>
            </a:r>
            <a:endParaRPr lang="fr-FR" sz="900" dirty="0" smtClean="0">
              <a:solidFill>
                <a:srgbClr val="FFC000"/>
              </a:solidFill>
            </a:endParaRPr>
          </a:p>
          <a:p>
            <a:r>
              <a:rPr lang="fr-FR" dirty="0" smtClean="0"/>
              <a:t>Il faut juste faire attention au temps de calcul car il croit proportionnellement au nombre de </a:t>
            </a:r>
            <a:r>
              <a:rPr lang="fr-FR" dirty="0" err="1" smtClean="0"/>
              <a:t>fps</a:t>
            </a:r>
            <a:r>
              <a:rPr lang="fr-FR" dirty="0" smtClean="0"/>
              <a:t> et la durée. </a:t>
            </a:r>
          </a:p>
          <a:p>
            <a:r>
              <a:rPr lang="fr-FR" dirty="0" smtClean="0"/>
              <a:t>Dans tous les cas cela se fixe dans </a:t>
            </a:r>
            <a:r>
              <a:rPr lang="fr-FR" dirty="0" err="1" smtClean="0"/>
              <a:t>animate</a:t>
            </a:r>
            <a:r>
              <a:rPr lang="fr-FR" dirty="0" smtClean="0"/>
              <a:t>(</a:t>
            </a:r>
            <a:r>
              <a:rPr lang="fr-FR" dirty="0" err="1" smtClean="0"/>
              <a:t>ggplot</a:t>
            </a:r>
            <a:r>
              <a:rPr lang="fr-FR" dirty="0" smtClean="0"/>
              <a:t>, …)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6410391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Autres effets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0166" y="1138687"/>
            <a:ext cx="8436634" cy="5210354"/>
          </a:xfrm>
        </p:spPr>
        <p:txBody>
          <a:bodyPr/>
          <a:lstStyle/>
          <a:p>
            <a:r>
              <a:rPr lang="fr-FR" dirty="0" smtClean="0"/>
              <a:t>Cycle sur une autre variable, le temps:</a:t>
            </a:r>
          </a:p>
          <a:p>
            <a:pPr marL="0" indent="0">
              <a:buNone/>
            </a:pPr>
            <a:r>
              <a:rPr lang="fr-FR" sz="900" dirty="0" err="1"/>
              <a:t>EF_pib_pc_mod_anim_slow_year</a:t>
            </a:r>
            <a:r>
              <a:rPr lang="fr-FR" sz="900" dirty="0"/>
              <a:t> &lt;- </a:t>
            </a:r>
            <a:r>
              <a:rPr lang="fr-FR" sz="900" dirty="0" err="1"/>
              <a:t>ggplot</a:t>
            </a:r>
            <a:r>
              <a:rPr lang="fr-FR" sz="900" dirty="0"/>
              <a:t>(data_2050_wide) +</a:t>
            </a:r>
          </a:p>
          <a:p>
            <a:pPr marL="0" indent="0">
              <a:buNone/>
            </a:pPr>
            <a:r>
              <a:rPr lang="fr-FR" sz="900" dirty="0"/>
              <a:t>  </a:t>
            </a:r>
            <a:r>
              <a:rPr lang="fr-FR" sz="900" dirty="0" err="1"/>
              <a:t>aes</a:t>
            </a:r>
            <a:r>
              <a:rPr lang="fr-FR" sz="900" dirty="0"/>
              <a:t>(x = GDP_MER/Population, y = </a:t>
            </a:r>
            <a:r>
              <a:rPr lang="fr-FR" sz="900" dirty="0" err="1"/>
              <a:t>Final_Energy</a:t>
            </a:r>
            <a:r>
              <a:rPr lang="fr-FR" sz="900" dirty="0"/>
              <a:t>/Population, </a:t>
            </a:r>
            <a:r>
              <a:rPr lang="fr-FR" sz="900" dirty="0" err="1"/>
              <a:t>colour</a:t>
            </a:r>
            <a:r>
              <a:rPr lang="fr-FR" sz="900" dirty="0"/>
              <a:t> = MODEL) +</a:t>
            </a:r>
          </a:p>
          <a:p>
            <a:pPr marL="0" indent="0">
              <a:buNone/>
            </a:pPr>
            <a:r>
              <a:rPr lang="fr-FR" sz="900" dirty="0"/>
              <a:t>  </a:t>
            </a:r>
            <a:r>
              <a:rPr lang="fr-FR" sz="900" dirty="0" err="1"/>
              <a:t>geom_point</a:t>
            </a:r>
            <a:r>
              <a:rPr lang="fr-FR" sz="900" dirty="0"/>
              <a:t>(alpha = 0.4) +</a:t>
            </a:r>
          </a:p>
          <a:p>
            <a:pPr marL="0" indent="0">
              <a:buNone/>
            </a:pPr>
            <a:r>
              <a:rPr lang="fr-FR" sz="900" dirty="0"/>
              <a:t>  </a:t>
            </a:r>
            <a:r>
              <a:rPr lang="fr-FR" sz="900" dirty="0" err="1"/>
              <a:t>labs</a:t>
            </a:r>
            <a:r>
              <a:rPr lang="fr-FR" sz="900" dirty="0"/>
              <a:t>(x = "PIB 2005 per capita",</a:t>
            </a:r>
          </a:p>
          <a:p>
            <a:pPr marL="0" indent="0">
              <a:buNone/>
            </a:pPr>
            <a:r>
              <a:rPr lang="fr-FR" sz="900" dirty="0"/>
              <a:t>       y = "</a:t>
            </a:r>
            <a:r>
              <a:rPr lang="fr-FR" sz="900" dirty="0" err="1"/>
              <a:t>Energie</a:t>
            </a:r>
            <a:r>
              <a:rPr lang="fr-FR" sz="900" dirty="0"/>
              <a:t> finale per capita",</a:t>
            </a:r>
          </a:p>
          <a:p>
            <a:pPr marL="0" indent="0">
              <a:buNone/>
            </a:pPr>
            <a:r>
              <a:rPr lang="fr-FR" sz="900" dirty="0"/>
              <a:t>       </a:t>
            </a:r>
            <a:r>
              <a:rPr lang="fr-FR" sz="900" dirty="0" err="1"/>
              <a:t>title</a:t>
            </a:r>
            <a:r>
              <a:rPr lang="fr-FR" sz="900" dirty="0"/>
              <a:t> = "</a:t>
            </a:r>
            <a:r>
              <a:rPr lang="fr-FR" sz="900" dirty="0" err="1"/>
              <a:t>Energie</a:t>
            </a:r>
            <a:r>
              <a:rPr lang="fr-FR" sz="900" dirty="0"/>
              <a:t> finale et PIB per capita SRES AR5 jusqu'à 2050",</a:t>
            </a:r>
          </a:p>
          <a:p>
            <a:pPr marL="0" indent="0">
              <a:buNone/>
            </a:pPr>
            <a:r>
              <a:rPr lang="fr-FR" sz="900" dirty="0"/>
              <a:t>       </a:t>
            </a:r>
            <a:r>
              <a:rPr lang="fr-FR" sz="900" dirty="0" err="1"/>
              <a:t>subtitle</a:t>
            </a:r>
            <a:r>
              <a:rPr lang="fr-FR" sz="900" dirty="0"/>
              <a:t> = "selon le modèle et l'année: </a:t>
            </a:r>
            <a:r>
              <a:rPr lang="fr-FR" sz="900" dirty="0">
                <a:solidFill>
                  <a:srgbClr val="FFC000"/>
                </a:solidFill>
              </a:rPr>
              <a:t>{</a:t>
            </a:r>
            <a:r>
              <a:rPr lang="fr-FR" sz="900" dirty="0" err="1">
                <a:solidFill>
                  <a:srgbClr val="FFC000"/>
                </a:solidFill>
              </a:rPr>
              <a:t>closest_state</a:t>
            </a:r>
            <a:r>
              <a:rPr lang="fr-FR" sz="900" dirty="0">
                <a:solidFill>
                  <a:srgbClr val="FFC000"/>
                </a:solidFill>
              </a:rPr>
              <a:t>}</a:t>
            </a:r>
            <a:r>
              <a:rPr lang="fr-FR" sz="900" dirty="0"/>
              <a:t>", </a:t>
            </a:r>
          </a:p>
          <a:p>
            <a:pPr marL="0" indent="0">
              <a:buNone/>
            </a:pPr>
            <a:r>
              <a:rPr lang="fr-FR" sz="900" dirty="0"/>
              <a:t>       </a:t>
            </a:r>
            <a:r>
              <a:rPr lang="fr-FR" sz="900" dirty="0" err="1"/>
              <a:t>caption</a:t>
            </a:r>
            <a:r>
              <a:rPr lang="fr-FR" sz="900" dirty="0"/>
              <a:t> = "Source: IPCC",</a:t>
            </a:r>
          </a:p>
          <a:p>
            <a:pPr marL="0" indent="0">
              <a:buNone/>
            </a:pPr>
            <a:r>
              <a:rPr lang="fr-FR" sz="900" dirty="0"/>
              <a:t>       </a:t>
            </a:r>
            <a:r>
              <a:rPr lang="fr-FR" sz="900" dirty="0" err="1"/>
              <a:t>Colour</a:t>
            </a:r>
            <a:r>
              <a:rPr lang="fr-FR" sz="900" dirty="0"/>
              <a:t> = "Modèle") +</a:t>
            </a:r>
          </a:p>
          <a:p>
            <a:pPr marL="0" indent="0">
              <a:buNone/>
            </a:pPr>
            <a:r>
              <a:rPr lang="fr-FR" sz="900" dirty="0">
                <a:solidFill>
                  <a:srgbClr val="FFC000"/>
                </a:solidFill>
              </a:rPr>
              <a:t>  </a:t>
            </a:r>
            <a:r>
              <a:rPr lang="fr-FR" sz="900" dirty="0" err="1">
                <a:solidFill>
                  <a:srgbClr val="FFC000"/>
                </a:solidFill>
              </a:rPr>
              <a:t>transition_states</a:t>
            </a:r>
            <a:r>
              <a:rPr lang="fr-FR" sz="900" dirty="0">
                <a:solidFill>
                  <a:srgbClr val="FFC000"/>
                </a:solidFill>
              </a:rPr>
              <a:t>(</a:t>
            </a:r>
            <a:r>
              <a:rPr lang="fr-FR" sz="900" dirty="0" err="1">
                <a:solidFill>
                  <a:srgbClr val="FFC000"/>
                </a:solidFill>
              </a:rPr>
              <a:t>year</a:t>
            </a:r>
            <a:r>
              <a:rPr lang="fr-FR" sz="900" dirty="0" smtClean="0">
                <a:solidFill>
                  <a:srgbClr val="FFC000"/>
                </a:solidFill>
              </a:rPr>
              <a:t>, </a:t>
            </a:r>
            <a:r>
              <a:rPr lang="fr-FR" sz="900" dirty="0" err="1" smtClean="0">
                <a:solidFill>
                  <a:srgbClr val="FFC000"/>
                </a:solidFill>
              </a:rPr>
              <a:t>transition_length</a:t>
            </a:r>
            <a:r>
              <a:rPr lang="fr-FR" sz="900" dirty="0" smtClean="0">
                <a:solidFill>
                  <a:srgbClr val="FFC000"/>
                </a:solidFill>
              </a:rPr>
              <a:t> </a:t>
            </a:r>
            <a:r>
              <a:rPr lang="fr-FR" sz="900" dirty="0">
                <a:solidFill>
                  <a:srgbClr val="FFC000"/>
                </a:solidFill>
              </a:rPr>
              <a:t>= 1</a:t>
            </a:r>
            <a:r>
              <a:rPr lang="fr-FR" sz="900" dirty="0" smtClean="0">
                <a:solidFill>
                  <a:srgbClr val="FFC000"/>
                </a:solidFill>
              </a:rPr>
              <a:t>,  </a:t>
            </a:r>
            <a:r>
              <a:rPr lang="fr-FR" sz="900" dirty="0" err="1">
                <a:solidFill>
                  <a:srgbClr val="FFC000"/>
                </a:solidFill>
              </a:rPr>
              <a:t>state_length</a:t>
            </a:r>
            <a:r>
              <a:rPr lang="fr-FR" sz="900" dirty="0">
                <a:solidFill>
                  <a:srgbClr val="FFC000"/>
                </a:solidFill>
              </a:rPr>
              <a:t> = 2) +</a:t>
            </a:r>
          </a:p>
          <a:p>
            <a:pPr marL="0" indent="0">
              <a:buNone/>
            </a:pPr>
            <a:r>
              <a:rPr lang="fr-FR" sz="900" dirty="0">
                <a:solidFill>
                  <a:srgbClr val="FFC000"/>
                </a:solidFill>
              </a:rPr>
              <a:t>  </a:t>
            </a:r>
            <a:r>
              <a:rPr lang="fr-FR" sz="900" dirty="0" err="1">
                <a:solidFill>
                  <a:srgbClr val="FFC000"/>
                </a:solidFill>
              </a:rPr>
              <a:t>ease_aes</a:t>
            </a:r>
            <a:r>
              <a:rPr lang="fr-FR" sz="900" dirty="0">
                <a:solidFill>
                  <a:srgbClr val="FFC000"/>
                </a:solidFill>
              </a:rPr>
              <a:t>('</a:t>
            </a:r>
            <a:r>
              <a:rPr lang="fr-FR" sz="900" dirty="0" err="1">
                <a:solidFill>
                  <a:srgbClr val="FFC000"/>
                </a:solidFill>
              </a:rPr>
              <a:t>linear</a:t>
            </a:r>
            <a:r>
              <a:rPr lang="fr-FR" sz="900" dirty="0">
                <a:solidFill>
                  <a:srgbClr val="FFC000"/>
                </a:solidFill>
              </a:rPr>
              <a:t>') </a:t>
            </a:r>
          </a:p>
          <a:p>
            <a:pPr marL="0" indent="0">
              <a:buNone/>
            </a:pPr>
            <a:r>
              <a:rPr lang="fr-FR" sz="900" dirty="0" err="1">
                <a:solidFill>
                  <a:srgbClr val="FFC000"/>
                </a:solidFill>
              </a:rPr>
              <a:t>animate</a:t>
            </a:r>
            <a:r>
              <a:rPr lang="fr-FR" sz="900" dirty="0">
                <a:solidFill>
                  <a:srgbClr val="FFC000"/>
                </a:solidFill>
              </a:rPr>
              <a:t>(</a:t>
            </a:r>
            <a:r>
              <a:rPr lang="fr-FR" sz="900" dirty="0" err="1">
                <a:solidFill>
                  <a:srgbClr val="FFC000"/>
                </a:solidFill>
              </a:rPr>
              <a:t>EF_pib_pc_mod_anim_slow_year</a:t>
            </a:r>
            <a:r>
              <a:rPr lang="fr-FR" sz="900" dirty="0">
                <a:solidFill>
                  <a:srgbClr val="FFC000"/>
                </a:solidFill>
              </a:rPr>
              <a:t>, </a:t>
            </a:r>
            <a:r>
              <a:rPr lang="fr-FR" sz="900" dirty="0" err="1">
                <a:solidFill>
                  <a:srgbClr val="FFC000"/>
                </a:solidFill>
              </a:rPr>
              <a:t>nframes</a:t>
            </a:r>
            <a:r>
              <a:rPr lang="fr-FR" sz="900" dirty="0">
                <a:solidFill>
                  <a:srgbClr val="FFC000"/>
                </a:solidFill>
              </a:rPr>
              <a:t> = 400, </a:t>
            </a:r>
            <a:r>
              <a:rPr lang="fr-FR" sz="900" dirty="0" err="1">
                <a:solidFill>
                  <a:srgbClr val="FFC000"/>
                </a:solidFill>
              </a:rPr>
              <a:t>fps</a:t>
            </a:r>
            <a:r>
              <a:rPr lang="fr-FR" sz="900" dirty="0">
                <a:solidFill>
                  <a:srgbClr val="FFC000"/>
                </a:solidFill>
              </a:rPr>
              <a:t> = 20) # effet pas inintéressant </a:t>
            </a:r>
            <a:r>
              <a:rPr lang="fr-FR" sz="900" dirty="0" smtClean="0">
                <a:solidFill>
                  <a:srgbClr val="FFC000"/>
                </a:solidFill>
              </a:rPr>
              <a:t>! Assez long à calculer quand même !</a:t>
            </a:r>
            <a:endParaRPr lang="fr-FR" sz="9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fr-FR" sz="900" dirty="0" err="1">
                <a:solidFill>
                  <a:srgbClr val="FFC000"/>
                </a:solidFill>
              </a:rPr>
              <a:t>anim_save</a:t>
            </a:r>
            <a:r>
              <a:rPr lang="fr-FR" sz="900" dirty="0">
                <a:solidFill>
                  <a:srgbClr val="FFC000"/>
                </a:solidFill>
              </a:rPr>
              <a:t>("EF_pib_pc_mod_anim_very_slow_year.gif", animation = </a:t>
            </a:r>
            <a:r>
              <a:rPr lang="fr-FR" sz="900" dirty="0" err="1">
                <a:solidFill>
                  <a:srgbClr val="FFC000"/>
                </a:solidFill>
              </a:rPr>
              <a:t>last_animation</a:t>
            </a:r>
            <a:r>
              <a:rPr lang="fr-FR" sz="900" dirty="0" smtClean="0">
                <a:solidFill>
                  <a:srgbClr val="FFC000"/>
                </a:solidFill>
              </a:rPr>
              <a:t>())</a:t>
            </a:r>
          </a:p>
          <a:p>
            <a:r>
              <a:rPr lang="fr-FR" sz="1800" dirty="0" smtClean="0">
                <a:solidFill>
                  <a:srgbClr val="FFC000"/>
                </a:solidFill>
              </a:rPr>
              <a:t>Transition dans le temps : </a:t>
            </a:r>
            <a:r>
              <a:rPr lang="fr-FR" sz="1800" dirty="0" err="1"/>
              <a:t>transition_time</a:t>
            </a:r>
            <a:r>
              <a:rPr lang="fr-FR" sz="1800" dirty="0" smtClean="0"/>
              <a:t>()</a:t>
            </a:r>
          </a:p>
          <a:p>
            <a:r>
              <a:rPr lang="fr-FR" sz="1800" dirty="0" smtClean="0">
                <a:solidFill>
                  <a:srgbClr val="FFC000"/>
                </a:solidFill>
              </a:rPr>
              <a:t>Suivi des données dans chaque plan: </a:t>
            </a:r>
            <a:r>
              <a:rPr lang="fr-FR" sz="1800" dirty="0" err="1"/>
              <a:t>view_follow</a:t>
            </a:r>
            <a:r>
              <a:rPr lang="fr-FR" sz="1800" dirty="0"/>
              <a:t>(</a:t>
            </a:r>
            <a:r>
              <a:rPr lang="fr-FR" sz="1800" dirty="0" err="1"/>
              <a:t>fixed_y</a:t>
            </a:r>
            <a:r>
              <a:rPr lang="fr-FR" sz="1800" dirty="0"/>
              <a:t> = TRUE</a:t>
            </a:r>
            <a:r>
              <a:rPr lang="fr-FR" sz="1800" dirty="0" smtClean="0"/>
              <a:t>)</a:t>
            </a:r>
          </a:p>
          <a:p>
            <a:r>
              <a:rPr lang="fr-FR" sz="1800" dirty="0" smtClean="0">
                <a:solidFill>
                  <a:srgbClr val="FFC000"/>
                </a:solidFill>
              </a:rPr>
              <a:t>Vue des plans précédent avec </a:t>
            </a:r>
            <a:r>
              <a:rPr lang="fr-FR" sz="1800" dirty="0">
                <a:solidFill>
                  <a:srgbClr val="FFC000"/>
                </a:solidFill>
              </a:rPr>
              <a:t>effacement progressif: </a:t>
            </a:r>
            <a:r>
              <a:rPr lang="fr-FR" sz="1800" dirty="0" err="1"/>
              <a:t>shadow_wake</a:t>
            </a:r>
            <a:r>
              <a:rPr lang="fr-FR" sz="1800" dirty="0"/>
              <a:t>(</a:t>
            </a:r>
            <a:r>
              <a:rPr lang="fr-FR" sz="1800" dirty="0" err="1"/>
              <a:t>wake_length</a:t>
            </a:r>
            <a:r>
              <a:rPr lang="fr-FR" sz="1800" dirty="0"/>
              <a:t> = 0.1, alpha = FALSE</a:t>
            </a:r>
            <a:r>
              <a:rPr lang="fr-FR" sz="1800" dirty="0" smtClean="0"/>
              <a:t>)</a:t>
            </a:r>
          </a:p>
          <a:p>
            <a:r>
              <a:rPr lang="fr-FR" sz="1800" dirty="0" smtClean="0">
                <a:solidFill>
                  <a:srgbClr val="FFC000"/>
                </a:solidFill>
              </a:rPr>
              <a:t>Persistance des </a:t>
            </a:r>
            <a:r>
              <a:rPr lang="fr-FR" sz="1800" dirty="0">
                <a:solidFill>
                  <a:srgbClr val="FFC000"/>
                </a:solidFill>
              </a:rPr>
              <a:t>données originales </a:t>
            </a:r>
            <a:r>
              <a:rPr lang="fr-FR" sz="1800" dirty="0"/>
              <a:t>: </a:t>
            </a:r>
            <a:r>
              <a:rPr lang="fr-FR" sz="1800" dirty="0" err="1"/>
              <a:t>shadow_mark</a:t>
            </a:r>
            <a:r>
              <a:rPr lang="fr-FR" sz="1800" dirty="0"/>
              <a:t>(alpha = 0.3, size = 0.5</a:t>
            </a:r>
            <a:r>
              <a:rPr lang="fr-FR" sz="1800" dirty="0" smtClean="0"/>
              <a:t>)</a:t>
            </a:r>
          </a:p>
          <a:p>
            <a:r>
              <a:rPr lang="fr-FR" sz="1800" dirty="0" smtClean="0">
                <a:solidFill>
                  <a:srgbClr val="FFC000"/>
                </a:solidFill>
              </a:rPr>
              <a:t>Révélation progressive de données sur </a:t>
            </a:r>
            <a:r>
              <a:rPr lang="fr-FR" sz="1800" dirty="0">
                <a:solidFill>
                  <a:srgbClr val="FFC000"/>
                </a:solidFill>
              </a:rPr>
              <a:t>un axe: </a:t>
            </a:r>
            <a:r>
              <a:rPr lang="fr-FR" sz="1800" dirty="0" err="1"/>
              <a:t>transition_reveal</a:t>
            </a:r>
            <a:r>
              <a:rPr lang="fr-FR" sz="1800" dirty="0"/>
              <a:t>(Day</a:t>
            </a:r>
            <a:r>
              <a:rPr lang="fr-FR" sz="1800" dirty="0" smtClean="0"/>
              <a:t>)</a:t>
            </a:r>
          </a:p>
          <a:p>
            <a:r>
              <a:rPr lang="fr-FR" sz="1800" dirty="0" smtClean="0">
                <a:solidFill>
                  <a:srgbClr val="FFC000"/>
                </a:solidFill>
              </a:rPr>
              <a:t>Avec persistance </a:t>
            </a:r>
            <a:r>
              <a:rPr lang="fr-FR" sz="1800" dirty="0">
                <a:solidFill>
                  <a:srgbClr val="FFC000"/>
                </a:solidFill>
              </a:rPr>
              <a:t>des points : </a:t>
            </a:r>
            <a:r>
              <a:rPr lang="fr-FR" sz="1800" dirty="0" err="1"/>
              <a:t>geom_point</a:t>
            </a:r>
            <a:r>
              <a:rPr lang="fr-FR" sz="1800" dirty="0"/>
              <a:t>(</a:t>
            </a:r>
            <a:r>
              <a:rPr lang="fr-FR" sz="1800" dirty="0" err="1"/>
              <a:t>aes</a:t>
            </a:r>
            <a:r>
              <a:rPr lang="fr-FR" sz="1800" dirty="0"/>
              <a:t>(group = </a:t>
            </a:r>
            <a:r>
              <a:rPr lang="fr-FR" sz="1800" dirty="0" err="1"/>
              <a:t>seq_along</a:t>
            </a:r>
            <a:r>
              <a:rPr lang="fr-FR" sz="1800" dirty="0"/>
              <a:t>(Day))) + </a:t>
            </a:r>
            <a:r>
              <a:rPr lang="fr-FR" sz="1800" dirty="0" err="1"/>
              <a:t>transition_reveal</a:t>
            </a:r>
            <a:r>
              <a:rPr lang="fr-FR" sz="1800" dirty="0"/>
              <a:t>(Day)</a:t>
            </a:r>
            <a:endParaRPr lang="fr-FR" sz="1800" dirty="0" smtClean="0"/>
          </a:p>
          <a:p>
            <a:endParaRPr lang="fr-FR" sz="2000" dirty="0" smtClean="0"/>
          </a:p>
          <a:p>
            <a:endParaRPr lang="fr-FR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581587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Liens et </a:t>
            </a:r>
            <a:r>
              <a:rPr lang="fr-FR" dirty="0" err="1" smtClean="0"/>
              <a:t>references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73192"/>
            <a:ext cx="8229600" cy="4977442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Excellent avec </a:t>
            </a:r>
            <a:r>
              <a:rPr lang="fr-FR" dirty="0"/>
              <a:t>les codes: </a:t>
            </a:r>
            <a:r>
              <a:rPr lang="fr-FR" dirty="0">
                <a:hlinkClick r:id="rId2"/>
              </a:rPr>
              <a:t>https://</a:t>
            </a:r>
            <a:r>
              <a:rPr lang="fr-FR" dirty="0" smtClean="0">
                <a:hlinkClick r:id="rId2"/>
              </a:rPr>
              <a:t>twitter.com/hashtag/gganimate</a:t>
            </a:r>
            <a:endParaRPr lang="fr-FR" dirty="0" smtClean="0"/>
          </a:p>
          <a:p>
            <a:pPr marL="0" indent="0">
              <a:buNone/>
            </a:pPr>
            <a:r>
              <a:rPr lang="fr-FR" dirty="0">
                <a:hlinkClick r:id="rId3"/>
              </a:rPr>
              <a:t>https://</a:t>
            </a:r>
            <a:r>
              <a:rPr lang="fr-FR" dirty="0" smtClean="0">
                <a:hlinkClick r:id="rId3"/>
              </a:rPr>
              <a:t>github.com/ropenscilabs/learngganimate</a:t>
            </a:r>
            <a:endParaRPr lang="fr-FR" dirty="0" smtClean="0"/>
          </a:p>
          <a:p>
            <a:pPr marL="0" indent="0">
              <a:buNone/>
            </a:pPr>
            <a:r>
              <a:rPr lang="fr-FR" dirty="0">
                <a:hlinkClick r:id="rId4"/>
              </a:rPr>
              <a:t>https://www.datanovia.com/en/blog/gganimate-how-to-create-plots-with-beautiful-animation-in-r</a:t>
            </a:r>
            <a:r>
              <a:rPr lang="fr-FR" dirty="0" smtClean="0">
                <a:hlinkClick r:id="rId4"/>
              </a:rPr>
              <a:t>/</a:t>
            </a:r>
            <a:endParaRPr lang="fr-FR" dirty="0" smtClean="0"/>
          </a:p>
          <a:p>
            <a:pPr marL="0" indent="0">
              <a:buNone/>
            </a:pPr>
            <a:r>
              <a:rPr lang="fr-FR" dirty="0">
                <a:hlinkClick r:id="rId5"/>
              </a:rPr>
              <a:t>https://</a:t>
            </a:r>
            <a:r>
              <a:rPr lang="fr-FR" dirty="0" smtClean="0">
                <a:hlinkClick r:id="rId5"/>
              </a:rPr>
              <a:t>github.com/thomasp85/gganimate</a:t>
            </a:r>
            <a:endParaRPr lang="fr-FR" dirty="0" smtClean="0"/>
          </a:p>
          <a:p>
            <a:pPr marL="0" indent="0">
              <a:buNone/>
            </a:pPr>
            <a:r>
              <a:rPr lang="fr-FR" dirty="0">
                <a:hlinkClick r:id="rId6"/>
              </a:rPr>
              <a:t>https://</a:t>
            </a:r>
            <a:r>
              <a:rPr lang="fr-FR" dirty="0" smtClean="0">
                <a:hlinkClick r:id="rId6"/>
              </a:rPr>
              <a:t>gganimate.com/articles/gganimate.html</a:t>
            </a:r>
            <a:endParaRPr lang="fr-FR" dirty="0" smtClean="0"/>
          </a:p>
          <a:p>
            <a:pPr marL="0" indent="0">
              <a:buNone/>
            </a:pPr>
            <a:r>
              <a:rPr lang="fr-FR" dirty="0">
                <a:hlinkClick r:id="rId7"/>
              </a:rPr>
              <a:t>https://</a:t>
            </a:r>
            <a:r>
              <a:rPr lang="fr-FR" dirty="0" smtClean="0">
                <a:hlinkClick r:id="rId7"/>
              </a:rPr>
              <a:t>gganimate.com/reference/index.html</a:t>
            </a:r>
            <a:endParaRPr lang="fr-FR" dirty="0" smtClean="0"/>
          </a:p>
          <a:p>
            <a:pPr marL="0" indent="0">
              <a:buNone/>
            </a:pPr>
            <a:r>
              <a:rPr lang="fr-FR" dirty="0"/>
              <a:t>Très utile: </a:t>
            </a:r>
            <a:r>
              <a:rPr lang="fr-FR" dirty="0">
                <a:hlinkClick r:id="rId8"/>
              </a:rPr>
              <a:t>http://</a:t>
            </a:r>
            <a:r>
              <a:rPr lang="fr-FR" dirty="0" smtClean="0">
                <a:hlinkClick r:id="rId8"/>
              </a:rPr>
              <a:t>r-statistics.co/Top50-Ggplot2-Visualizations-MasterList-R-Code.html</a:t>
            </a:r>
            <a:endParaRPr lang="fr-FR" dirty="0" smtClean="0"/>
          </a:p>
          <a:p>
            <a:pPr marL="0" indent="0">
              <a:buNone/>
            </a:pPr>
            <a:r>
              <a:rPr lang="fr-FR">
                <a:hlinkClick r:id="rId9"/>
              </a:rPr>
              <a:t>https://</a:t>
            </a:r>
            <a:r>
              <a:rPr lang="fr-FR">
                <a:hlinkClick r:id="rId9"/>
              </a:rPr>
              <a:t>www.data-imaginist.com/2019/gganimate-has-transitioned-to-a-state-of-release</a:t>
            </a:r>
            <a:r>
              <a:rPr lang="fr-FR" smtClean="0">
                <a:hlinkClick r:id="rId9"/>
              </a:rPr>
              <a:t>/</a:t>
            </a:r>
            <a:endParaRPr lang="fr-FR" smtClean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9481676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1. Gard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dèle par défau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18798</TotalTime>
  <Words>998</Words>
  <Application>Microsoft Office PowerPoint</Application>
  <PresentationFormat>Affichage à l'écran (4:3)</PresentationFormat>
  <Paragraphs>114</Paragraphs>
  <Slides>9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1. Garde</vt:lpstr>
      <vt:lpstr>Présentation PowerPoint</vt:lpstr>
      <vt:lpstr>plan</vt:lpstr>
      <vt:lpstr>Introduction</vt:lpstr>
      <vt:lpstr>Présentation de gganimate</vt:lpstr>
      <vt:lpstr>Exemples commentes</vt:lpstr>
      <vt:lpstr>Premier gganimate</vt:lpstr>
      <vt:lpstr>Ralentir le defilement</vt:lpstr>
      <vt:lpstr>Autres effets</vt:lpstr>
      <vt:lpstr>Liens et references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Antoine Missemer</dc:creator>
  <cp:lastModifiedBy>Franck</cp:lastModifiedBy>
  <cp:revision>701</cp:revision>
  <dcterms:created xsi:type="dcterms:W3CDTF">2010-07-11T08:38:31Z</dcterms:created>
  <dcterms:modified xsi:type="dcterms:W3CDTF">2020-04-29T22:00:18Z</dcterms:modified>
</cp:coreProperties>
</file>